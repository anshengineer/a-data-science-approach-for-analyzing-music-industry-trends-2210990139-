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4"/>
  </p:handoutMasterIdLst>
  <p:sldIdLst>
    <p:sldId id="256" r:id="rId3"/>
    <p:sldId id="257" r:id="rId5"/>
    <p:sldId id="272" r:id="rId6"/>
    <p:sldId id="273" r:id="rId7"/>
    <p:sldId id="274" r:id="rId8"/>
    <p:sldId id="269" r:id="rId9"/>
    <p:sldId id="270" r:id="rId10"/>
    <p:sldId id="271" r:id="rId11"/>
    <p:sldId id="275" r:id="rId12"/>
    <p:sldId id="268" r:id="rId13"/>
  </p:sldIdLst>
  <p:sldSz cx="9144000" cy="6858000" type="screen4x3"/>
  <p:notesSz cx="7559675" cy="1069149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0" userDrawn="1">
          <p15:clr>
            <a:srgbClr val="A4A3A4"/>
          </p15:clr>
        </p15:guide>
        <p15:guide id="2" pos="28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118" d="100"/>
          <a:sy n="118" d="100"/>
        </p:scale>
        <p:origin x="-1482" y="-18"/>
      </p:cViewPr>
      <p:guideLst>
        <p:guide orient="horz" pos="2190"/>
        <p:guide pos="289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customXml" Target="../customXml/item3.xml"/><Relationship Id="rId2" Type="http://schemas.openxmlformats.org/officeDocument/2006/relationships/theme" Target="theme/theme1.xml"/><Relationship Id="rId19" Type="http://schemas.openxmlformats.org/officeDocument/2006/relationships/customXml" Target="../customXml/item2.xml"/><Relationship Id="rId18" Type="http://schemas.openxmlformats.org/officeDocument/2006/relationships/customXml" Target="../customXml/item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handoutMaster" Target="handoutMasters/handoutMaster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fld>
            <a:endParaRPr lang="en-US"/>
          </a:p>
        </p:txBody>
      </p:sp>
      <p:sp>
        <p:nvSpPr>
          <p:cNvPr id="4" name="Footer Placeholder 3"/>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endParaRPr lang="en-US"/>
          </a:p>
        </p:txBody>
      </p:sp>
      <p:sp>
        <p:nvSpPr>
          <p:cNvPr id="5" name="Slide Number Placeholder 4"/>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fld>
            <a:endParaRPr 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fld>
            <a:endParaRPr 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fld>
            <a:endParaRPr lang="en-US"/>
          </a:p>
        </p:txBody>
      </p:sp>
      <p:sp>
        <p:nvSpPr>
          <p:cNvPr id="5" name="Footer Placeholder 4"/>
          <p:cNvSpPr>
            <a:spLocks noGrp="1"/>
          </p:cNvSpPr>
          <p:nvPr>
            <p:ph type="ftr" sz="quarter" idx="4"/>
          </p:nvPr>
        </p:nvSpPr>
        <p:spPr/>
        <p:txBody>
          <a:bodyPr/>
          <a:lstStyle/>
          <a:p>
            <a:r>
              <a:rPr lang="en-US"/>
              <a:t>Name of the faculty [Group: G00] [Sem:2nd]</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jpeg"/><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3"/>
          <a:srcRect b="10718"/>
          <a:stretch>
            <a:fillRect/>
          </a:stretch>
        </p:blipFill>
        <p:spPr>
          <a:xfrm>
            <a:off x="6553080" y="228600"/>
            <a:ext cx="2057040" cy="634680"/>
          </a:xfrm>
          <a:prstGeom prst="rect">
            <a:avLst/>
          </a:prstGeom>
          <a:ln w="9360">
            <a:noFill/>
          </a:ln>
        </p:spPr>
      </p:pic>
      <p:pic>
        <p:nvPicPr>
          <p:cNvPr id="3" name="Picture 10" descr="LOGO.gif"/>
          <p:cNvPicPr/>
          <p:nvPr/>
        </p:nvPicPr>
        <p:blipFill>
          <a:blip r:embed="rId13"/>
          <a:srcRect b="10718"/>
          <a:stretch>
            <a:fillRect/>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3"/>
            <a:srcRect b="10718"/>
            <a:stretch>
              <a:fillRect/>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4"/>
          <a:stretch>
            <a:fillRect/>
          </a:stretch>
        </p:blipFill>
        <p:spPr>
          <a:xfrm>
            <a:off x="6553080" y="228600"/>
            <a:ext cx="1920600" cy="609120"/>
          </a:xfrm>
          <a:prstGeom prst="rect">
            <a:avLst/>
          </a:prstGeom>
          <a:ln w="9360">
            <a:noFill/>
          </a:ln>
        </p:spPr>
      </p:pic>
      <p:pic>
        <p:nvPicPr>
          <p:cNvPr id="9" name="Picture 10" descr="LOGO.gif"/>
          <p:cNvPicPr/>
          <p:nvPr/>
        </p:nvPicPr>
        <p:blipFill>
          <a:blip r:embed="rId13"/>
          <a:srcRect b="10718"/>
          <a:stretch>
            <a:fillRect/>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3"/>
            <a:srcRect b="10718"/>
            <a:stretch>
              <a:fillRect/>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4"/>
          <a:stretch>
            <a:fillRect/>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panose="020F0502020204030204"/>
                <a:ea typeface="MS PGothic" panose="020B0600070205080204" charset="-128"/>
              </a:rPr>
              <a:t>Click to edit Master title style</a:t>
            </a:r>
            <a:endParaRPr lang="en-US" sz="3000" b="0" strike="noStrike" spc="-1" dirty="0">
              <a:solidFill>
                <a:srgbClr val="000000"/>
              </a:solidFill>
              <a:latin typeface="Arial" panose="020B0604020202020204"/>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2900" indent="-342900">
              <a:lnSpc>
                <a:spcPct val="100000"/>
              </a:lnSpc>
              <a:spcBef>
                <a:spcPts val="640"/>
              </a:spcBef>
              <a:buClr>
                <a:srgbClr val="000000"/>
              </a:buClr>
              <a:buFont typeface="Arial" panose="020B0604020202020204"/>
              <a:buChar char="•"/>
            </a:pPr>
            <a:r>
              <a:rPr lang="en-US" sz="3200" b="0" strike="noStrike" spc="-1" dirty="0">
                <a:solidFill>
                  <a:srgbClr val="000000"/>
                </a:solidFill>
                <a:latin typeface="Calibri" panose="020F0502020204030204"/>
                <a:ea typeface="MS PGothic" panose="020B0600070205080204" charset="-128"/>
              </a:rPr>
              <a:t>Click to edit Master text styles</a:t>
            </a:r>
            <a:endParaRPr lang="en-US" sz="3200" b="0" strike="noStrike" spc="-1" dirty="0">
              <a:solidFill>
                <a:srgbClr val="000000"/>
              </a:solidFill>
              <a:latin typeface="Calibri" panose="020F0502020204030204"/>
            </a:endParaRPr>
          </a:p>
          <a:p>
            <a:pPr marL="742950" lvl="1" indent="-285750">
              <a:lnSpc>
                <a:spcPct val="100000"/>
              </a:lnSpc>
              <a:spcBef>
                <a:spcPts val="560"/>
              </a:spcBef>
              <a:buClr>
                <a:srgbClr val="000000"/>
              </a:buClr>
              <a:buFont typeface="Arial" panose="020B0604020202020204"/>
              <a:buChar char="–"/>
            </a:pPr>
            <a:r>
              <a:rPr lang="en-US" sz="2800" b="0" strike="noStrike" spc="-1" dirty="0">
                <a:solidFill>
                  <a:srgbClr val="000000"/>
                </a:solidFill>
                <a:latin typeface="Calibri" panose="020F0502020204030204"/>
                <a:ea typeface="MS PGothic" panose="020B0600070205080204" charset="-128"/>
              </a:rPr>
              <a:t>Second level</a:t>
            </a:r>
            <a:endParaRPr lang="en-US" sz="2800" b="0" strike="noStrike" spc="-1" dirty="0">
              <a:solidFill>
                <a:srgbClr val="000000"/>
              </a:solidFill>
              <a:latin typeface="Calibri" panose="020F0502020204030204"/>
            </a:endParaRPr>
          </a:p>
          <a:p>
            <a:pPr marL="1143000" lvl="2" indent="-227965">
              <a:lnSpc>
                <a:spcPct val="100000"/>
              </a:lnSpc>
              <a:spcBef>
                <a:spcPts val="480"/>
              </a:spcBef>
              <a:buClr>
                <a:srgbClr val="000000"/>
              </a:buClr>
              <a:buFont typeface="Arial" panose="020B0604020202020204"/>
              <a:buChar char="•"/>
            </a:pPr>
            <a:r>
              <a:rPr lang="en-US" sz="2400" b="0" strike="noStrike" spc="-1" dirty="0">
                <a:solidFill>
                  <a:srgbClr val="000000"/>
                </a:solidFill>
                <a:latin typeface="Calibri" panose="020F0502020204030204"/>
                <a:ea typeface="MS PGothic" panose="020B0600070205080204" charset="-128"/>
              </a:rPr>
              <a:t>Third level</a:t>
            </a:r>
            <a:endParaRPr lang="en-US" sz="2400" b="0" strike="noStrike" spc="-1" dirty="0">
              <a:solidFill>
                <a:srgbClr val="000000"/>
              </a:solidFill>
              <a:latin typeface="Calibri" panose="020F0502020204030204"/>
            </a:endParaRPr>
          </a:p>
          <a:p>
            <a:pPr marL="1600200" lvl="3" indent="-227965">
              <a:lnSpc>
                <a:spcPct val="100000"/>
              </a:lnSpc>
              <a:spcBef>
                <a:spcPts val="400"/>
              </a:spcBef>
              <a:buClr>
                <a:srgbClr val="000000"/>
              </a:buClr>
              <a:buFont typeface="Arial" panose="020B0604020202020204"/>
              <a:buChar char="–"/>
            </a:pPr>
            <a:r>
              <a:rPr lang="en-US" sz="2000" b="0" strike="noStrike" spc="-1" dirty="0">
                <a:solidFill>
                  <a:srgbClr val="000000"/>
                </a:solidFill>
                <a:latin typeface="Calibri" panose="020F0502020204030204"/>
                <a:ea typeface="MS PGothic" panose="020B0600070205080204" charset="-128"/>
              </a:rPr>
              <a:t>Fourth level</a:t>
            </a:r>
            <a:endParaRPr lang="en-US" sz="2000" b="0" strike="noStrike" spc="-1" dirty="0">
              <a:solidFill>
                <a:srgbClr val="000000"/>
              </a:solidFill>
              <a:latin typeface="Calibri" panose="020F0502020204030204"/>
            </a:endParaRPr>
          </a:p>
          <a:p>
            <a:pPr marL="2057400" lvl="4" indent="-227965">
              <a:lnSpc>
                <a:spcPct val="100000"/>
              </a:lnSpc>
              <a:spcBef>
                <a:spcPts val="400"/>
              </a:spcBef>
              <a:buClr>
                <a:srgbClr val="000000"/>
              </a:buClr>
              <a:buFont typeface="Arial" panose="020B0604020202020204"/>
              <a:buChar char="»"/>
            </a:pPr>
            <a:r>
              <a:rPr lang="en-US" sz="2000" b="0" strike="noStrike" spc="-1" dirty="0">
                <a:solidFill>
                  <a:srgbClr val="000000"/>
                </a:solidFill>
                <a:latin typeface="Calibri" panose="020F0502020204030204"/>
                <a:ea typeface="MS PGothic" panose="020B0600070205080204" charset="-128"/>
              </a:rPr>
              <a:t>Fifth level</a:t>
            </a:r>
            <a:endParaRPr lang="en-US" sz="2000" b="0" strike="noStrike" spc="-1" dirty="0">
              <a:solidFill>
                <a:srgbClr val="000000"/>
              </a:solidFill>
              <a:latin typeface="Calibri" panose="020F0502020204030204"/>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panose="02020603050405020304"/>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panose="02020603050405020304"/>
              </a:rPr>
              <a:t>Name</a:t>
            </a:r>
            <a:endParaRPr lang="en-GB" sz="2400" b="0" strike="noStrike" spc="-1">
              <a:latin typeface="Times New Roman" panose="02020603050405020304"/>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panose="020F0502020204030204"/>
                <a:ea typeface="MS PGothic" panose="020B0600070205080204" charset="-128"/>
              </a:rPr>
            </a:fld>
            <a:endParaRPr lang="en-GB" sz="1200" b="0" strike="noStrike" spc="-1">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smtClean="0">
                <a:latin typeface="Times New Roman" panose="02020603050405020304" pitchFamily="18" charset="0"/>
                <a:ea typeface="Calibri" panose="020F0502020204030204" pitchFamily="34" charset="0"/>
                <a:cs typeface="Times New Roman" panose="02020603050405020304" pitchFamily="18" charset="0"/>
              </a:rPr>
              <a:t>CO-OP Project at </a:t>
            </a:r>
            <a:r>
              <a:rPr lang="en-US" b="1" dirty="0">
                <a:latin typeface="Times New Roman" panose="02020603050405020304" pitchFamily="18" charset="0"/>
                <a:ea typeface="Calibri" panose="020F0502020204030204" pitchFamily="34" charset="0"/>
                <a:cs typeface="Times New Roman" panose="02020603050405020304" pitchFamily="18" charset="0"/>
              </a:rPr>
              <a:t>Industry (Module-2) </a:t>
            </a:r>
            <a:r>
              <a:rPr lang="en-IN" b="1" dirty="0" smtClean="0">
                <a:latin typeface="Times New Roman" panose="02020603050405020304" pitchFamily="18" charset="0"/>
                <a:ea typeface="Calibri" panose="020F0502020204030204" pitchFamily="34" charset="0"/>
                <a:cs typeface="Times New Roman" panose="02020603050405020304" pitchFamily="18" charset="0"/>
              </a:rPr>
              <a:t>(22CS421)</a:t>
            </a:r>
            <a:endParaRPr lang="en-IN" b="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endParaRPr lang="en-US" sz="2000"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alt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A Data Science Approach for Analyzing Music Industry Trends</a:t>
            </a:r>
            <a:br>
              <a:rPr 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br>
            <a:r>
              <a:rPr lang="en-IN" alt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Ansh Puri</a:t>
            </a:r>
            <a:endPar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IN" alt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2210990139</a:t>
            </a:r>
            <a:endPar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Supervised By</a:t>
            </a:r>
            <a:endPar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IN" alt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Dr.Simarjit Kaur Virk</a:t>
            </a:r>
            <a:endParaRPr 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panose="020B0600070205080204" charset="-128"/>
                <a:cs typeface="Times New Roman" panose="02020603050405020304" pitchFamily="18" charset="0"/>
              </a:rPr>
              <a:t>Department of </a:t>
            </a:r>
            <a:r>
              <a:rPr lang="en-US" sz="2400" b="0" strike="noStrike" spc="-1" dirty="0">
                <a:latin typeface="Times New Roman" panose="02020603050405020304" pitchFamily="18" charset="0"/>
                <a:ea typeface="MS PGothic" panose="020B0600070205080204" charset="-128"/>
                <a:cs typeface="Times New Roman" panose="02020603050405020304" pitchFamily="18" charset="0"/>
              </a:rPr>
              <a:t>Computer Science and Engineering, </a:t>
            </a:r>
            <a:endParaRPr lang="en-US" sz="2400" b="0" strike="noStrike"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400" b="0" strike="noStrike" spc="-1" dirty="0">
                <a:latin typeface="Times New Roman" panose="02020603050405020304" pitchFamily="18" charset="0"/>
                <a:ea typeface="MS PGothic" panose="020B0600070205080204" charset="-128"/>
                <a:cs typeface="Times New Roman" panose="02020603050405020304" pitchFamily="18" charset="0"/>
              </a:rPr>
              <a:t>Chitkara University, Punjab</a:t>
            </a:r>
            <a:endParaRPr lang="en-US" sz="2400" b="0" strike="noStrike"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50000"/>
              </a:lnSpc>
              <a:spcBef>
                <a:spcPts val="400"/>
              </a:spcBef>
            </a:pPr>
            <a:endParaRPr lang="en-US" sz="2000" b="0" strike="noStrike" spc="-1" dirty="0">
              <a:solidFill>
                <a:srgbClr val="000000"/>
              </a:solidFill>
              <a:latin typeface="Calibri" panose="020F0502020204030204"/>
            </a:endParaRPr>
          </a:p>
          <a:p>
            <a:pPr>
              <a:lnSpc>
                <a:spcPct val="100000"/>
              </a:lnSpc>
              <a:spcBef>
                <a:spcPts val="640"/>
              </a:spcBef>
            </a:pPr>
            <a:endParaRPr lang="en-US" sz="2000" b="0" strike="noStrike" spc="-1" dirty="0">
              <a:solidFill>
                <a:srgbClr val="000000"/>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63830" y="0"/>
            <a:ext cx="6019560" cy="837720"/>
          </a:xfrm>
          <a:prstGeom prst="rect">
            <a:avLst/>
          </a:prstGeom>
          <a:noFill/>
          <a:ln w="9360">
            <a:noFill/>
          </a:ln>
        </p:spPr>
        <p:txBody>
          <a:bodyPr anchor="ctr">
            <a:noAutofit/>
          </a:bodyPr>
          <a:lstStyle/>
          <a:p>
            <a:pPr algn="ctr">
              <a:lnSpc>
                <a:spcPct val="100000"/>
              </a:lnSpc>
            </a:pPr>
            <a:r>
              <a:rPr lang="en-IN" altLang="en-GB" sz="3200" dirty="0">
                <a:latin typeface="Times New Roman" panose="02020603050405020304" pitchFamily="18" charset="0"/>
                <a:cs typeface="Times New Roman" panose="02020603050405020304" pitchFamily="18" charset="0"/>
              </a:rPr>
              <a:t>                           </a:t>
            </a:r>
            <a:r>
              <a:rPr lang="en-GB"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
        <p:nvSpPr>
          <p:cNvPr id="5" name="TextShape 2"/>
          <p:cNvSpPr txBox="1"/>
          <p:nvPr/>
        </p:nvSpPr>
        <p:spPr>
          <a:xfrm>
            <a:off x="163830" y="1109980"/>
            <a:ext cx="8838565" cy="5611495"/>
          </a:xfrm>
          <a:prstGeom prst="rect">
            <a:avLst/>
          </a:prstGeom>
          <a:noFill/>
          <a:ln w="9360">
            <a:noFill/>
          </a:ln>
        </p:spPr>
        <p:txBody>
          <a:bodyPr>
            <a:noAutofit/>
          </a:bodyPr>
          <a:lstStyle/>
          <a:p>
            <a:pPr>
              <a:lnSpc>
                <a:spcPct val="100000"/>
              </a:lnSpc>
              <a:spcBef>
                <a:spcPts val="400"/>
              </a:spcBef>
            </a:pPr>
            <a:r>
              <a:rPr lang="en-US" altLang="en-US" sz="1600">
                <a:latin typeface="Times New Roman" panose="02020603050405020304" pitchFamily="18" charset="0"/>
                <a:cs typeface="Times New Roman" panose="02020603050405020304" pitchFamily="18" charset="0"/>
                <a:sym typeface="+mn-ea"/>
              </a:rPr>
              <a:t>•</a:t>
            </a:r>
            <a:r>
              <a:rPr lang="en-US" altLang="en-US" sz="1600" spc="-1" dirty="0">
                <a:solidFill>
                  <a:srgbClr val="000000"/>
                </a:solidFill>
                <a:latin typeface="Times New Roman" panose="02020603050405020304" pitchFamily="18" charset="0"/>
                <a:cs typeface="Times New Roman" panose="02020603050405020304" pitchFamily="18" charset="0"/>
              </a:rPr>
              <a:t>In today’s fast-growing world, people have developed higher expectations and more refined tastes in almost every aspect of life, including music. With the rise of the digital era, music has become easily accessible, allowing listeners to enjoy songs anytime and anywhere.It has been made possible through the music streaming platforms such as Spotify,that allows the masses to enjoy music anywhere and anytime[1].</a:t>
            </a:r>
            <a:endParaRPr lang="en-US" altLang="en-US" sz="1600"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r>
              <a:rPr lang="en-US" altLang="en-US" sz="1600">
                <a:latin typeface="Times New Roman" panose="02020603050405020304" pitchFamily="18" charset="0"/>
                <a:cs typeface="Times New Roman" panose="02020603050405020304" pitchFamily="18" charset="0"/>
                <a:sym typeface="+mn-ea"/>
              </a:rPr>
              <a:t>•</a:t>
            </a:r>
            <a:r>
              <a:rPr lang="en-US" altLang="en-US" sz="1600" spc="-1" dirty="0">
                <a:solidFill>
                  <a:srgbClr val="000000"/>
                </a:solidFill>
                <a:latin typeface="Times New Roman" panose="02020603050405020304" pitchFamily="18" charset="0"/>
                <a:cs typeface="Times New Roman" panose="02020603050405020304" pitchFamily="18" charset="0"/>
              </a:rPr>
              <a:t>However, the vast variety of music available today makes it challenging to keep track of different songs and understand the connections between various tunes, styles, and beats.To manage this complexity, algorithms and predictive models have become essential tools in the modern music industry. These technologies can analyze large volumes of music data and provide meaningful insights into what makes a song successful, as well as predict the potential success of new releases[2].This research focuses on understanding the relationship between a song’s audio features and its popularity.</a:t>
            </a:r>
            <a:endParaRPr lang="en-US" altLang="en-US" sz="1600"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r>
              <a:rPr lang="en-US" altLang="en-US" sz="1600">
                <a:latin typeface="Times New Roman" panose="02020603050405020304" pitchFamily="18" charset="0"/>
                <a:cs typeface="Times New Roman" panose="02020603050405020304" pitchFamily="18" charset="0"/>
                <a:sym typeface="+mn-ea"/>
              </a:rPr>
              <a:t>•</a:t>
            </a:r>
            <a:r>
              <a:rPr lang="en-US" altLang="en-US" sz="1600" spc="-1" dirty="0">
                <a:solidFill>
                  <a:srgbClr val="000000"/>
                </a:solidFill>
                <a:latin typeface="Times New Roman" panose="02020603050405020304" pitchFamily="18" charset="0"/>
                <a:cs typeface="Times New Roman" panose="02020603050405020304" pitchFamily="18" charset="0"/>
              </a:rPr>
              <a:t>The dataset used for this study is taken from Spotify (via Kaggle) and includes attributes such as key, tempo, and other musical characteristics[3]. In this context, a song’s popularity is measured based on its number of streams. By analyzing these audio features alongside popularity, the study aims to identify the key factors that contribute to a song’s success.</a:t>
            </a:r>
            <a:endParaRPr lang="en-US" altLang="en-US" sz="1600"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r>
              <a:rPr lang="en-US" altLang="en-US" sz="1600">
                <a:latin typeface="Times New Roman" panose="02020603050405020304" pitchFamily="18" charset="0"/>
                <a:cs typeface="Times New Roman" panose="02020603050405020304" pitchFamily="18" charset="0"/>
                <a:sym typeface="+mn-ea"/>
              </a:rPr>
              <a:t>•</a:t>
            </a:r>
            <a:r>
              <a:rPr lang="en-US" altLang="en-US" sz="1600" spc="-1" dirty="0">
                <a:solidFill>
                  <a:srgbClr val="000000"/>
                </a:solidFill>
                <a:latin typeface="Times New Roman" panose="02020603050405020304" pitchFamily="18" charset="0"/>
                <a:cs typeface="Times New Roman" panose="02020603050405020304" pitchFamily="18" charset="0"/>
              </a:rPr>
              <a:t>To achieve this, various machine learning algorithms and statistical techniques will be applied to analyze large datasets related to music[4]. By identifying the most influential features, this research seeks to provide valuable insights into trends within the music industry.</a:t>
            </a:r>
            <a:endParaRPr lang="en-US" altLang="en-US" sz="1600"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r>
              <a:rPr lang="en-US" altLang="en-US" sz="1600" spc="-1" dirty="0">
                <a:solidFill>
                  <a:srgbClr val="000000"/>
                </a:solidFill>
                <a:latin typeface="Times New Roman" panose="02020603050405020304" pitchFamily="18" charset="0"/>
                <a:cs typeface="Times New Roman" panose="02020603050405020304" pitchFamily="18" charset="0"/>
              </a:rPr>
              <a:t>It will also explore whether the success of past songs can help predict the performance of future releases and determine which factors have the greatest impact on a song’s popularity.Ultimately, this project aims to enhance our understanding of how the music industry is evolving and how data-driven approaches can shape its future.</a:t>
            </a:r>
            <a:endParaRPr lang="en-US" altLang="en-US" sz="1600"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spc="-1" dirty="0">
              <a:solidFill>
                <a:srgbClr val="000000"/>
              </a:solidFill>
              <a:latin typeface="Calibri" panose="020F0502020204030204"/>
            </a:endParaRPr>
          </a:p>
          <a:p>
            <a:pPr>
              <a:lnSpc>
                <a:spcPct val="150000"/>
              </a:lnSpc>
              <a:spcBef>
                <a:spcPts val="400"/>
              </a:spcBef>
            </a:pPr>
            <a:endParaRPr lang="en-US" sz="1900" b="0" strike="noStrike" spc="-1" dirty="0">
              <a:solidFill>
                <a:srgbClr val="000000"/>
              </a:solidFill>
              <a:latin typeface="Calibri" panose="020F0502020204030204"/>
            </a:endParaRPr>
          </a:p>
          <a:p>
            <a:pPr>
              <a:lnSpc>
                <a:spcPct val="150000"/>
              </a:lnSpc>
              <a:spcBef>
                <a:spcPts val="400"/>
              </a:spcBef>
            </a:pPr>
            <a:endParaRPr lang="en-US" sz="1900" b="0" strike="noStrike" spc="-1" dirty="0">
              <a:solidFill>
                <a:srgbClr val="000000"/>
              </a:solidFill>
              <a:latin typeface="Calibri" panose="020F0502020204030204"/>
            </a:endParaRPr>
          </a:p>
          <a:p>
            <a:pPr>
              <a:lnSpc>
                <a:spcPct val="150000"/>
              </a:lnSpc>
              <a:spcBef>
                <a:spcPts val="400"/>
              </a:spcBef>
            </a:pPr>
            <a:endParaRPr lang="en-US" sz="1900" b="0" strike="noStrike" spc="-1" dirty="0">
              <a:solidFill>
                <a:srgbClr val="000000"/>
              </a:solidFill>
              <a:latin typeface="Calibri" panose="020F0502020204030204"/>
            </a:endParaRPr>
          </a:p>
          <a:p>
            <a:pPr>
              <a:lnSpc>
                <a:spcPct val="150000"/>
              </a:lnSpc>
              <a:spcBef>
                <a:spcPts val="400"/>
              </a:spcBef>
            </a:pPr>
            <a:endParaRPr lang="en-US" sz="1900" b="0" strike="noStrike" spc="-1" dirty="0">
              <a:solidFill>
                <a:srgbClr val="000000"/>
              </a:solidFill>
              <a:latin typeface="Calibri" panose="020F0502020204030204"/>
            </a:endParaRPr>
          </a:p>
          <a:p>
            <a:pPr>
              <a:lnSpc>
                <a:spcPct val="100000"/>
              </a:lnSpc>
              <a:spcBef>
                <a:spcPts val="400"/>
              </a:spcBef>
            </a:pPr>
            <a:endParaRPr lang="en-US" sz="1900" b="0" strike="noStrike" spc="-1" dirty="0">
              <a:solidFill>
                <a:srgbClr val="000000"/>
              </a:solidFill>
              <a:latin typeface="Calibri" panose="020F0502020204030204"/>
            </a:endParaRPr>
          </a:p>
          <a:p>
            <a:pPr>
              <a:lnSpc>
                <a:spcPct val="100000"/>
              </a:lnSpc>
              <a:spcBef>
                <a:spcPts val="400"/>
              </a:spcBef>
            </a:pPr>
            <a:endParaRPr lang="en-US" sz="1900" b="0" strike="noStrike" spc="-1" dirty="0">
              <a:solidFill>
                <a:srgbClr val="000000"/>
              </a:solidFill>
              <a:latin typeface="Calibri" panose="020F0502020204030204"/>
            </a:endParaRPr>
          </a:p>
          <a:p>
            <a:pPr>
              <a:lnSpc>
                <a:spcPct val="100000"/>
              </a:lnSpc>
              <a:spcBef>
                <a:spcPts val="400"/>
              </a:spcBef>
            </a:pPr>
            <a:endParaRPr lang="en-US" sz="1900" b="0" strike="noStrike" spc="-1" dirty="0">
              <a:solidFill>
                <a:srgbClr val="000000"/>
              </a:solidFill>
              <a:latin typeface="Calibri" panose="020F0502020204030204"/>
            </a:endParaRPr>
          </a:p>
          <a:p>
            <a:pPr>
              <a:lnSpc>
                <a:spcPct val="100000"/>
              </a:lnSpc>
              <a:spcBef>
                <a:spcPts val="400"/>
              </a:spcBef>
            </a:pPr>
            <a:endParaRPr lang="en-US" sz="1900" b="0" strike="noStrike" spc="-1" dirty="0">
              <a:solidFill>
                <a:srgbClr val="000000"/>
              </a:solidFill>
              <a:latin typeface="Calibri" panose="020F0502020204030204"/>
            </a:endParaRPr>
          </a:p>
          <a:p>
            <a:pPr>
              <a:lnSpc>
                <a:spcPct val="100000"/>
              </a:lnSpc>
              <a:spcBef>
                <a:spcPts val="400"/>
              </a:spcBef>
            </a:pPr>
            <a:endParaRPr lang="en-US" sz="1900" b="0" strike="noStrike" spc="-1" dirty="0">
              <a:solidFill>
                <a:srgbClr val="000000"/>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0805" y="365760"/>
            <a:ext cx="6429375" cy="583565"/>
          </a:xfrm>
          <a:prstGeom prst="rect">
            <a:avLst/>
          </a:prstGeom>
          <a:noFill/>
        </p:spPr>
        <p:txBody>
          <a:bodyPr wrap="square" rtlCol="0">
            <a:spAutoFit/>
          </a:bodyPr>
          <a:p>
            <a:pPr algn="ctr"/>
            <a:r>
              <a:rPr lang="en-IN" altLang="en-US" sz="3200">
                <a:latin typeface="Times New Roman" panose="02020603050405020304" pitchFamily="18" charset="0"/>
                <a:cs typeface="Times New Roman" panose="02020603050405020304" pitchFamily="18" charset="0"/>
              </a:rPr>
              <a:t>Literatrue Review</a:t>
            </a:r>
            <a:endParaRPr lang="en-IN" altLang="en-US" sz="3200">
              <a:latin typeface="Times New Roman" panose="02020603050405020304" pitchFamily="18" charset="0"/>
              <a:cs typeface="Times New Roman" panose="02020603050405020304" pitchFamily="18" charset="0"/>
            </a:endParaRPr>
          </a:p>
        </p:txBody>
      </p:sp>
      <p:sp>
        <p:nvSpPr>
          <p:cNvPr id="3" name="Text Box 2"/>
          <p:cNvSpPr txBox="1"/>
          <p:nvPr/>
        </p:nvSpPr>
        <p:spPr>
          <a:xfrm>
            <a:off x="269875" y="1127760"/>
            <a:ext cx="8641080" cy="5454015"/>
          </a:xfrm>
          <a:prstGeom prst="rect">
            <a:avLst/>
          </a:prstGeom>
          <a:noFill/>
        </p:spPr>
        <p:txBody>
          <a:bodyPr wrap="square" rtlCol="0">
            <a:noAutofit/>
          </a:bodyPr>
          <a:p>
            <a:r>
              <a:rPr lang="en-US" altLang="en-US"/>
              <a:t>In recent years, the music industry has seen a major shift with the growth of digital streaming platforms. This has led researchers to explore how data science can be used to better understand music trends and predict the success of songs[2],[3]. Several studies have focused on analyzing large datasets from platforms like Spotify, where information about songs and listener behavior is easily available.</a:t>
            </a:r>
            <a:endParaRPr lang="en-US" altLang="en-US"/>
          </a:p>
          <a:p>
            <a:r>
              <a:rPr lang="en-US" altLang="en-US"/>
              <a:t>Many researchers have studied the relationship between a song’s audio features—such as tempo, energy, danceability, and genre—and its popularity[4],[5]. Their findings suggest that certain combinations of these features can influence how well a song performs. For example, songs with higher energy and danceability are often more popular among listeners. However, these patterns are not always consistent, as music preferences can vary widely between audiences.</a:t>
            </a:r>
            <a:endParaRPr lang="en-US" altLang="en-US"/>
          </a:p>
          <a:p>
            <a:r>
              <a:rPr lang="en-US" altLang="en-US"/>
              <a:t>To analyze such data, different machine learning techniques have been used in previous studies. Models like linear regression, decision trees, and random forests are commonly applied to identify patterns and make predictions[5]. In some cases, neural networks have also been used to capture more complex relationships within the data[6]. These methods have helped researchers gain deeper insights into what makes a song successful.</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34950" y="176530"/>
            <a:ext cx="6418580" cy="675005"/>
          </a:xfrm>
          <a:prstGeom prst="rect">
            <a:avLst/>
          </a:prstGeom>
          <a:noFill/>
        </p:spPr>
        <p:txBody>
          <a:bodyPr wrap="square" rtlCol="0">
            <a:noAutofit/>
          </a:bodyPr>
          <a:p>
            <a:pPr algn="ctr"/>
            <a:r>
              <a:rPr lang="en-IN" altLang="en-US" sz="3200">
                <a:latin typeface="Times New Roman" panose="02020603050405020304" pitchFamily="18" charset="0"/>
                <a:cs typeface="Times New Roman" panose="02020603050405020304" pitchFamily="18" charset="0"/>
              </a:rPr>
              <a:t>Methodology</a:t>
            </a:r>
            <a:endParaRPr lang="en-IN" altLang="en-US" sz="3200">
              <a:latin typeface="Times New Roman" panose="02020603050405020304" pitchFamily="18" charset="0"/>
              <a:cs typeface="Times New Roman" panose="02020603050405020304" pitchFamily="18" charset="0"/>
            </a:endParaRPr>
          </a:p>
        </p:txBody>
      </p:sp>
      <p:sp>
        <p:nvSpPr>
          <p:cNvPr id="3" name="Text Box 2"/>
          <p:cNvSpPr txBox="1"/>
          <p:nvPr/>
        </p:nvSpPr>
        <p:spPr>
          <a:xfrm>
            <a:off x="71120" y="1005205"/>
            <a:ext cx="8908415" cy="5645785"/>
          </a:xfrm>
          <a:prstGeom prst="rect">
            <a:avLst/>
          </a:prstGeom>
          <a:noFill/>
        </p:spPr>
        <p:txBody>
          <a:bodyPr wrap="square" rtlCol="0">
            <a:noAutofit/>
          </a:bodyPr>
          <a:p>
            <a:endParaRPr lang="en-US" altLang="en-US" sz="1200">
              <a:latin typeface="Times New Roman" panose="02020603050405020304" pitchFamily="18" charset="0"/>
              <a:cs typeface="Times New Roman" panose="02020603050405020304" pitchFamily="18" charset="0"/>
            </a:endParaRPr>
          </a:p>
          <a:p>
            <a:r>
              <a:rPr lang="en-US" altLang="en-US" sz="1200">
                <a:latin typeface="Times New Roman" panose="02020603050405020304" pitchFamily="18" charset="0"/>
                <a:cs typeface="Times New Roman" panose="02020603050405020304" pitchFamily="18" charset="0"/>
              </a:rPr>
              <a:t>The methodology of this project follows a structured approach to analyze and predict song popularity using machine learning techniques. The overall process consists of data collection, preprocessing, feature analysis, model development, and evaluation.</a:t>
            </a:r>
            <a:endParaRPr lang="en-US" altLang="en-US" sz="1200">
              <a:latin typeface="Times New Roman" panose="02020603050405020304" pitchFamily="18" charset="0"/>
              <a:cs typeface="Times New Roman" panose="02020603050405020304" pitchFamily="18" charset="0"/>
            </a:endParaRPr>
          </a:p>
          <a:p>
            <a:endParaRPr lang="en-US" altLang="en-US" sz="1200">
              <a:latin typeface="Times New Roman" panose="02020603050405020304" pitchFamily="18" charset="0"/>
              <a:cs typeface="Times New Roman" panose="02020603050405020304" pitchFamily="18" charset="0"/>
            </a:endParaRPr>
          </a:p>
          <a:p>
            <a:r>
              <a:rPr lang="en-US" altLang="en-US" sz="1400">
                <a:latin typeface="Times New Roman" panose="02020603050405020304" pitchFamily="18" charset="0"/>
                <a:cs typeface="Times New Roman" panose="02020603050405020304" pitchFamily="18" charset="0"/>
                <a:sym typeface="+mn-ea"/>
              </a:rPr>
              <a:t>•</a:t>
            </a:r>
            <a:r>
              <a:rPr lang="en-US" altLang="en-US" sz="1200">
                <a:latin typeface="Times New Roman" panose="02020603050405020304" pitchFamily="18" charset="0"/>
                <a:cs typeface="Times New Roman" panose="02020603050405020304" pitchFamily="18" charset="0"/>
              </a:rPr>
              <a:t>Data Collection</a:t>
            </a:r>
            <a:endParaRPr lang="en-US" altLang="en-US" sz="1200">
              <a:latin typeface="Times New Roman" panose="02020603050405020304" pitchFamily="18" charset="0"/>
              <a:cs typeface="Times New Roman" panose="02020603050405020304" pitchFamily="18" charset="0"/>
            </a:endParaRPr>
          </a:p>
          <a:p>
            <a:r>
              <a:rPr lang="en-US" altLang="en-US" sz="1200">
                <a:latin typeface="Times New Roman" panose="02020603050405020304" pitchFamily="18" charset="0"/>
                <a:cs typeface="Times New Roman" panose="02020603050405020304" pitchFamily="18" charset="0"/>
              </a:rPr>
              <a:t>Firstly, the dataset is collected from a publicly available Spotify dataset on Kaggle. The dataset contains approximately 3000 songs along with various audio features such as tempo, energy, danceability, loudness, and popularity scores.</a:t>
            </a:r>
            <a:endParaRPr lang="en-US" altLang="en-US" sz="1200">
              <a:latin typeface="Times New Roman" panose="02020603050405020304" pitchFamily="18" charset="0"/>
              <a:cs typeface="Times New Roman" panose="02020603050405020304" pitchFamily="18" charset="0"/>
            </a:endParaRPr>
          </a:p>
          <a:p>
            <a:r>
              <a:rPr lang="en-US" altLang="en-US" sz="1200">
                <a:latin typeface="Times New Roman" panose="02020603050405020304" pitchFamily="18" charset="0"/>
                <a:cs typeface="Times New Roman" panose="02020603050405020304" pitchFamily="18" charset="0"/>
              </a:rPr>
              <a:t> </a:t>
            </a:r>
            <a:endParaRPr lang="en-US" altLang="en-US" sz="1200">
              <a:latin typeface="Times New Roman" panose="02020603050405020304" pitchFamily="18" charset="0"/>
              <a:cs typeface="Times New Roman" panose="02020603050405020304" pitchFamily="18" charset="0"/>
            </a:endParaRPr>
          </a:p>
          <a:p>
            <a:r>
              <a:rPr lang="en-US" altLang="en-US" sz="1200">
                <a:latin typeface="Times New Roman" panose="02020603050405020304" pitchFamily="18" charset="0"/>
                <a:cs typeface="Times New Roman" panose="02020603050405020304" pitchFamily="18" charset="0"/>
                <a:sym typeface="+mn-ea"/>
              </a:rPr>
              <a:t>•</a:t>
            </a:r>
            <a:r>
              <a:rPr lang="en-US" altLang="en-US" sz="1200">
                <a:latin typeface="Times New Roman" panose="02020603050405020304" pitchFamily="18" charset="0"/>
                <a:cs typeface="Times New Roman" panose="02020603050405020304" pitchFamily="18" charset="0"/>
              </a:rPr>
              <a:t>Data Preprocessing</a:t>
            </a:r>
            <a:endParaRPr lang="en-US" altLang="en-US" sz="1200">
              <a:latin typeface="Times New Roman" panose="02020603050405020304" pitchFamily="18" charset="0"/>
              <a:cs typeface="Times New Roman" panose="02020603050405020304" pitchFamily="18" charset="0"/>
            </a:endParaRPr>
          </a:p>
          <a:p>
            <a:r>
              <a:rPr lang="en-US" altLang="en-US" sz="1200">
                <a:latin typeface="Times New Roman" panose="02020603050405020304" pitchFamily="18" charset="0"/>
                <a:cs typeface="Times New Roman" panose="02020603050405020304" pitchFamily="18" charset="0"/>
              </a:rPr>
              <a:t>In the preprocessing stage, the dataset is cleaned to ensure accuracy and consistency. Missing values are handled, and unnecessary or irrelevant features are removed. Numerical features are normalized to bring them to a similar scale, which helps improve the performance of machine learning models.</a:t>
            </a:r>
            <a:endParaRPr lang="en-US" altLang="en-US" sz="1200">
              <a:latin typeface="Times New Roman" panose="02020603050405020304" pitchFamily="18" charset="0"/>
              <a:cs typeface="Times New Roman" panose="02020603050405020304" pitchFamily="18" charset="0"/>
            </a:endParaRPr>
          </a:p>
          <a:p>
            <a:endParaRPr lang="en-US" altLang="en-US" sz="1200">
              <a:latin typeface="Times New Roman" panose="02020603050405020304" pitchFamily="18" charset="0"/>
              <a:cs typeface="Times New Roman" panose="02020603050405020304" pitchFamily="18" charset="0"/>
            </a:endParaRPr>
          </a:p>
          <a:p>
            <a:r>
              <a:rPr lang="en-US" altLang="en-US" sz="1200">
                <a:latin typeface="Times New Roman" panose="02020603050405020304" pitchFamily="18" charset="0"/>
                <a:cs typeface="Times New Roman" panose="02020603050405020304" pitchFamily="18" charset="0"/>
                <a:sym typeface="+mn-ea"/>
              </a:rPr>
              <a:t>•</a:t>
            </a:r>
            <a:r>
              <a:rPr lang="en-US" altLang="en-US" sz="1200">
                <a:latin typeface="Times New Roman" panose="02020603050405020304" pitchFamily="18" charset="0"/>
                <a:cs typeface="Times New Roman" panose="02020603050405020304" pitchFamily="18" charset="0"/>
              </a:rPr>
              <a:t>Feature Analysis</a:t>
            </a:r>
            <a:endParaRPr lang="en-US" altLang="en-US" sz="1200">
              <a:latin typeface="Times New Roman" panose="02020603050405020304" pitchFamily="18" charset="0"/>
              <a:cs typeface="Times New Roman" panose="02020603050405020304" pitchFamily="18" charset="0"/>
            </a:endParaRPr>
          </a:p>
          <a:p>
            <a:r>
              <a:rPr lang="en-US" altLang="en-US" sz="1200">
                <a:latin typeface="Times New Roman" panose="02020603050405020304" pitchFamily="18" charset="0"/>
                <a:cs typeface="Times New Roman" panose="02020603050405020304" pitchFamily="18" charset="0"/>
              </a:rPr>
              <a:t>After preprocessing, feature analysis is performed to understand the relationship between different audio features and song popularity. Visualization techniques such as scatter plots and correlation heatmaps are used to identify patterns and dependencies within the data.</a:t>
            </a:r>
            <a:endParaRPr lang="en-US" altLang="en-US" sz="1200">
              <a:latin typeface="Times New Roman" panose="02020603050405020304" pitchFamily="18" charset="0"/>
              <a:cs typeface="Times New Roman" panose="02020603050405020304" pitchFamily="18" charset="0"/>
            </a:endParaRPr>
          </a:p>
          <a:p>
            <a:endParaRPr lang="en-US" altLang="en-US" sz="1200">
              <a:latin typeface="Times New Roman" panose="02020603050405020304" pitchFamily="18" charset="0"/>
              <a:cs typeface="Times New Roman" panose="02020603050405020304" pitchFamily="18" charset="0"/>
            </a:endParaRPr>
          </a:p>
          <a:p>
            <a:r>
              <a:rPr lang="en-US" altLang="en-US" sz="1200">
                <a:latin typeface="Times New Roman" panose="02020603050405020304" pitchFamily="18" charset="0"/>
                <a:cs typeface="Times New Roman" panose="02020603050405020304" pitchFamily="18" charset="0"/>
                <a:sym typeface="+mn-ea"/>
              </a:rPr>
              <a:t>•</a:t>
            </a:r>
            <a:r>
              <a:rPr lang="en-US" altLang="en-US" sz="1200">
                <a:latin typeface="Times New Roman" panose="02020603050405020304" pitchFamily="18" charset="0"/>
                <a:cs typeface="Times New Roman" panose="02020603050405020304" pitchFamily="18" charset="0"/>
              </a:rPr>
              <a:t>Predictive Modelling</a:t>
            </a:r>
            <a:endParaRPr lang="en-US" altLang="en-US" sz="1200">
              <a:latin typeface="Times New Roman" panose="02020603050405020304" pitchFamily="18" charset="0"/>
              <a:cs typeface="Times New Roman" panose="02020603050405020304" pitchFamily="18" charset="0"/>
            </a:endParaRPr>
          </a:p>
          <a:p>
            <a:r>
              <a:rPr lang="en-US" altLang="en-US" sz="1200">
                <a:latin typeface="Times New Roman" panose="02020603050405020304" pitchFamily="18" charset="0"/>
                <a:cs typeface="Times New Roman" panose="02020603050405020304" pitchFamily="18" charset="0"/>
              </a:rPr>
              <a:t>Next, multiple machine learning models are applied, including Linear Regression, Decision Tree, Random Forest, and Neural Networks. The dataset is divided into training and testing sets in an 80:20 ratio to evaluate the performance of these models. Linear Regression is used as a baseline model, while Decision Tree and Random Forest are used to capture non-linear relationships. Neural Networks are applied to model more complex patterns in the data.</a:t>
            </a:r>
            <a:endParaRPr lang="en-US" altLang="en-US" sz="1200">
              <a:latin typeface="Times New Roman" panose="02020603050405020304" pitchFamily="18" charset="0"/>
              <a:cs typeface="Times New Roman" panose="02020603050405020304" pitchFamily="18" charset="0"/>
            </a:endParaRPr>
          </a:p>
          <a:p>
            <a:endParaRPr lang="en-US" altLang="en-US" sz="1200">
              <a:latin typeface="Times New Roman" panose="02020603050405020304" pitchFamily="18" charset="0"/>
              <a:cs typeface="Times New Roman" panose="02020603050405020304" pitchFamily="18" charset="0"/>
            </a:endParaRPr>
          </a:p>
          <a:p>
            <a:r>
              <a:rPr lang="en-US" altLang="en-US" sz="1200">
                <a:latin typeface="Times New Roman" panose="02020603050405020304" pitchFamily="18" charset="0"/>
                <a:cs typeface="Times New Roman" panose="02020603050405020304" pitchFamily="18" charset="0"/>
              </a:rPr>
              <a:t>Finally, the performance of each model is evaluated using metrics such as Mean Squared Error (MSE) and R-squared (R²). These metrics help in comparing the accuracy and effectiveness of the models in predicting song popularity.</a:t>
            </a:r>
            <a:endParaRPr lang="en-US" altLang="en-US" sz="120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2075" y="69215"/>
            <a:ext cx="5965825" cy="775335"/>
          </a:xfrm>
          <a:prstGeom prst="rect">
            <a:avLst/>
          </a:prstGeom>
          <a:noFill/>
        </p:spPr>
        <p:txBody>
          <a:bodyPr wrap="square" rtlCol="0">
            <a:noAutofit/>
          </a:bodyPr>
          <a:p>
            <a:pPr algn="ctr"/>
            <a:r>
              <a:rPr lang="en-IN" altLang="en-US" sz="3200">
                <a:latin typeface="Times New Roman" panose="02020603050405020304" pitchFamily="18" charset="0"/>
                <a:cs typeface="Times New Roman" panose="02020603050405020304" pitchFamily="18" charset="0"/>
              </a:rPr>
              <a:t>Results</a:t>
            </a:r>
            <a:endParaRPr lang="en-IN" altLang="en-US" sz="3200">
              <a:latin typeface="Times New Roman" panose="02020603050405020304" pitchFamily="18" charset="0"/>
              <a:cs typeface="Times New Roman" panose="02020603050405020304" pitchFamily="18" charset="0"/>
            </a:endParaRPr>
          </a:p>
        </p:txBody>
      </p:sp>
      <p:sp>
        <p:nvSpPr>
          <p:cNvPr id="3" name="Text Box 2"/>
          <p:cNvSpPr txBox="1"/>
          <p:nvPr/>
        </p:nvSpPr>
        <p:spPr>
          <a:xfrm>
            <a:off x="251460" y="1097280"/>
            <a:ext cx="8686800" cy="5474970"/>
          </a:xfrm>
          <a:prstGeom prst="rect">
            <a:avLst/>
          </a:prstGeom>
          <a:noFill/>
        </p:spPr>
        <p:txBody>
          <a:bodyPr wrap="square" rtlCol="0">
            <a:noAutofit/>
          </a:bodyPr>
          <a:p>
            <a:r>
              <a:rPr lang="en-IN" altLang="en-US"/>
              <a:t>The following results were being achieved:</a:t>
            </a:r>
            <a:endParaRPr lang="en-IN" altLang="en-US"/>
          </a:p>
          <a:p>
            <a:endParaRPr lang="en-IN" altLang="en-US"/>
          </a:p>
          <a:p>
            <a:endParaRPr lang="en-IN" altLang="en-US"/>
          </a:p>
        </p:txBody>
      </p:sp>
      <p:pic>
        <p:nvPicPr>
          <p:cNvPr id="17" name="Picture 13" descr="IMG_256"/>
          <p:cNvPicPr>
            <a:picLocks noChangeAspect="1"/>
          </p:cNvPicPr>
          <p:nvPr/>
        </p:nvPicPr>
        <p:blipFill>
          <a:blip r:embed="rId1"/>
          <a:stretch>
            <a:fillRect/>
          </a:stretch>
        </p:blipFill>
        <p:spPr>
          <a:xfrm>
            <a:off x="251460" y="1564005"/>
            <a:ext cx="1765935" cy="1269365"/>
          </a:xfrm>
          <a:prstGeom prst="rect">
            <a:avLst/>
          </a:prstGeom>
          <a:noFill/>
          <a:ln>
            <a:noFill/>
          </a:ln>
        </p:spPr>
      </p:pic>
      <p:pic>
        <p:nvPicPr>
          <p:cNvPr id="18" name="Picture 14" descr="IMG_256"/>
          <p:cNvPicPr>
            <a:picLocks noChangeAspect="1"/>
          </p:cNvPicPr>
          <p:nvPr/>
        </p:nvPicPr>
        <p:blipFill>
          <a:blip r:embed="rId2"/>
          <a:stretch>
            <a:fillRect/>
          </a:stretch>
        </p:blipFill>
        <p:spPr>
          <a:xfrm>
            <a:off x="2017395" y="1503680"/>
            <a:ext cx="1703070" cy="1280795"/>
          </a:xfrm>
          <a:prstGeom prst="rect">
            <a:avLst/>
          </a:prstGeom>
          <a:noFill/>
          <a:ln>
            <a:noFill/>
          </a:ln>
        </p:spPr>
      </p:pic>
      <p:pic>
        <p:nvPicPr>
          <p:cNvPr id="19" name="Picture 15" descr="IMG_256"/>
          <p:cNvPicPr>
            <a:picLocks noChangeAspect="1"/>
          </p:cNvPicPr>
          <p:nvPr/>
        </p:nvPicPr>
        <p:blipFill>
          <a:blip r:embed="rId3"/>
          <a:stretch>
            <a:fillRect/>
          </a:stretch>
        </p:blipFill>
        <p:spPr>
          <a:xfrm>
            <a:off x="3843655" y="1564005"/>
            <a:ext cx="1662430" cy="1219835"/>
          </a:xfrm>
          <a:prstGeom prst="rect">
            <a:avLst/>
          </a:prstGeom>
          <a:noFill/>
          <a:ln>
            <a:noFill/>
          </a:ln>
        </p:spPr>
      </p:pic>
      <p:pic>
        <p:nvPicPr>
          <p:cNvPr id="20" name="Picture 17" descr="IMG_256"/>
          <p:cNvPicPr>
            <a:picLocks noChangeAspect="1"/>
          </p:cNvPicPr>
          <p:nvPr/>
        </p:nvPicPr>
        <p:blipFill>
          <a:blip r:embed="rId4"/>
          <a:stretch>
            <a:fillRect/>
          </a:stretch>
        </p:blipFill>
        <p:spPr>
          <a:xfrm>
            <a:off x="5732780" y="1503680"/>
            <a:ext cx="1619885" cy="1280160"/>
          </a:xfrm>
          <a:prstGeom prst="rect">
            <a:avLst/>
          </a:prstGeom>
          <a:noFill/>
          <a:ln>
            <a:noFill/>
          </a:ln>
        </p:spPr>
      </p:pic>
      <p:pic>
        <p:nvPicPr>
          <p:cNvPr id="21" name="Picture 18" descr="IMG_256"/>
          <p:cNvPicPr>
            <a:picLocks noChangeAspect="1"/>
          </p:cNvPicPr>
          <p:nvPr/>
        </p:nvPicPr>
        <p:blipFill>
          <a:blip r:embed="rId5"/>
          <a:stretch>
            <a:fillRect/>
          </a:stretch>
        </p:blipFill>
        <p:spPr>
          <a:xfrm>
            <a:off x="377190" y="2784475"/>
            <a:ext cx="1640205" cy="1529080"/>
          </a:xfrm>
          <a:prstGeom prst="rect">
            <a:avLst/>
          </a:prstGeom>
          <a:noFill/>
          <a:ln>
            <a:noFill/>
          </a:ln>
        </p:spPr>
      </p:pic>
      <p:pic>
        <p:nvPicPr>
          <p:cNvPr id="22" name="Picture 19" descr="IMG_256"/>
          <p:cNvPicPr>
            <a:picLocks noChangeAspect="1"/>
          </p:cNvPicPr>
          <p:nvPr/>
        </p:nvPicPr>
        <p:blipFill>
          <a:blip r:embed="rId6"/>
          <a:stretch>
            <a:fillRect/>
          </a:stretch>
        </p:blipFill>
        <p:spPr>
          <a:xfrm>
            <a:off x="2091055" y="2783840"/>
            <a:ext cx="1690370" cy="138557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0490" y="1111885"/>
            <a:ext cx="8486140" cy="5022215"/>
          </a:xfrm>
          <a:prstGeom prst="rect">
            <a:avLst/>
          </a:prstGeom>
          <a:noFill/>
        </p:spPr>
        <p:txBody>
          <a:bodyPr wrap="square" rtlCol="0">
            <a:noAutofit/>
          </a:bodyPr>
          <a:p>
            <a:pPr algn="l"/>
            <a:r>
              <a:rPr lang="en-US" altLang="en-US">
                <a:latin typeface="Times New Roman" panose="02020603050405020304" pitchFamily="18" charset="0"/>
                <a:cs typeface="Times New Roman" panose="02020603050405020304" pitchFamily="18" charset="0"/>
              </a:rPr>
              <a:t>• Use of a real-world Spotify dataset containing approximately 3000 songs.</a:t>
            </a:r>
            <a:endParaRPr lang="en-US" altLang="en-US">
              <a:latin typeface="Times New Roman" panose="02020603050405020304" pitchFamily="18" charset="0"/>
              <a:cs typeface="Times New Roman" panose="02020603050405020304" pitchFamily="18" charset="0"/>
            </a:endParaRPr>
          </a:p>
          <a:p>
            <a:pPr algn="l"/>
            <a:endParaRPr lang="en-US" altLang="en-US">
              <a:latin typeface="Times New Roman" panose="02020603050405020304" pitchFamily="18" charset="0"/>
              <a:cs typeface="Times New Roman" panose="02020603050405020304" pitchFamily="18" charset="0"/>
            </a:endParaRPr>
          </a:p>
          <a:p>
            <a:pPr algn="l"/>
            <a:r>
              <a:rPr lang="en-US" altLang="en-US">
                <a:latin typeface="Times New Roman" panose="02020603050405020304" pitchFamily="18" charset="0"/>
                <a:cs typeface="Times New Roman" panose="02020603050405020304" pitchFamily="18" charset="0"/>
              </a:rPr>
              <a:t>• Analysis of multiple audio features such as tempo, energy, danceability, and loudness.</a:t>
            </a:r>
            <a:endParaRPr lang="en-US" altLang="en-US">
              <a:latin typeface="Times New Roman" panose="02020603050405020304" pitchFamily="18" charset="0"/>
              <a:cs typeface="Times New Roman" panose="02020603050405020304" pitchFamily="18" charset="0"/>
            </a:endParaRPr>
          </a:p>
          <a:p>
            <a:pPr algn="l"/>
            <a:endParaRPr lang="en-US" altLang="en-US">
              <a:latin typeface="Times New Roman" panose="02020603050405020304" pitchFamily="18" charset="0"/>
              <a:cs typeface="Times New Roman" panose="02020603050405020304" pitchFamily="18" charset="0"/>
            </a:endParaRPr>
          </a:p>
          <a:p>
            <a:pPr algn="l"/>
            <a:r>
              <a:rPr lang="en-US" altLang="en-US">
                <a:latin typeface="Times New Roman" panose="02020603050405020304" pitchFamily="18" charset="0"/>
                <a:cs typeface="Times New Roman" panose="02020603050405020304" pitchFamily="18" charset="0"/>
              </a:rPr>
              <a:t>• Application of different machine learning models including Linear Regression, Decision Tree, Random Forest, and Neural Networks.</a:t>
            </a:r>
            <a:endParaRPr lang="en-US" altLang="en-US">
              <a:latin typeface="Times New Roman" panose="02020603050405020304" pitchFamily="18" charset="0"/>
              <a:cs typeface="Times New Roman" panose="02020603050405020304" pitchFamily="18" charset="0"/>
            </a:endParaRPr>
          </a:p>
          <a:p>
            <a:pPr algn="l"/>
            <a:endParaRPr lang="en-US" altLang="en-US">
              <a:latin typeface="Times New Roman" panose="02020603050405020304" pitchFamily="18" charset="0"/>
              <a:cs typeface="Times New Roman" panose="02020603050405020304" pitchFamily="18" charset="0"/>
            </a:endParaRPr>
          </a:p>
          <a:p>
            <a:pPr algn="l"/>
            <a:r>
              <a:rPr lang="en-US" altLang="en-US">
                <a:latin typeface="Times New Roman" panose="02020603050405020304" pitchFamily="18" charset="0"/>
                <a:cs typeface="Times New Roman" panose="02020603050405020304" pitchFamily="18" charset="0"/>
              </a:rPr>
              <a:t>• Comparison of model performance using evaluation metrics such as Mean Squared Error (MSE) and R-squared (R²).</a:t>
            </a:r>
            <a:endParaRPr lang="en-US" altLang="en-US">
              <a:latin typeface="Times New Roman" panose="02020603050405020304" pitchFamily="18" charset="0"/>
              <a:cs typeface="Times New Roman" panose="02020603050405020304" pitchFamily="18" charset="0"/>
            </a:endParaRPr>
          </a:p>
          <a:p>
            <a:pPr algn="l"/>
            <a:endParaRPr lang="en-US" altLang="en-US">
              <a:latin typeface="Times New Roman" panose="02020603050405020304" pitchFamily="18" charset="0"/>
              <a:cs typeface="Times New Roman" panose="02020603050405020304" pitchFamily="18" charset="0"/>
            </a:endParaRPr>
          </a:p>
          <a:p>
            <a:pPr algn="l"/>
            <a:r>
              <a:rPr lang="en-US" altLang="en-US">
                <a:latin typeface="Times New Roman" panose="02020603050405020304" pitchFamily="18" charset="0"/>
                <a:cs typeface="Times New Roman" panose="02020603050405020304" pitchFamily="18" charset="0"/>
              </a:rPr>
              <a:t>• Identification of important patterns and relationships between audio features and song popularity.</a:t>
            </a:r>
            <a:endParaRPr lang="en-US" altLang="en-US">
              <a:latin typeface="Times New Roman" panose="02020603050405020304" pitchFamily="18" charset="0"/>
              <a:cs typeface="Times New Roman" panose="02020603050405020304" pitchFamily="18" charset="0"/>
            </a:endParaRPr>
          </a:p>
          <a:p>
            <a:pPr algn="l"/>
            <a:endParaRPr lang="en-US" altLang="en-US">
              <a:latin typeface="Times New Roman" panose="02020603050405020304" pitchFamily="18" charset="0"/>
              <a:cs typeface="Times New Roman" panose="02020603050405020304" pitchFamily="18" charset="0"/>
            </a:endParaRPr>
          </a:p>
          <a:p>
            <a:pPr algn="l"/>
            <a:r>
              <a:rPr lang="en-US" altLang="en-US">
                <a:latin typeface="Times New Roman" panose="02020603050405020304" pitchFamily="18" charset="0"/>
                <a:cs typeface="Times New Roman" panose="02020603050405020304" pitchFamily="18" charset="0"/>
              </a:rPr>
              <a:t>• Use of data visualization techniques such as scatter plots and correlation heatmaps.</a:t>
            </a:r>
            <a:endParaRPr lang="en-US" altLang="en-US">
              <a:latin typeface="Times New Roman" panose="02020603050405020304" pitchFamily="18" charset="0"/>
              <a:cs typeface="Times New Roman" panose="02020603050405020304" pitchFamily="18" charset="0"/>
            </a:endParaRPr>
          </a:p>
          <a:p>
            <a:pPr algn="l"/>
            <a:endParaRPr lang="en-US" altLang="en-US">
              <a:latin typeface="Times New Roman" panose="02020603050405020304" pitchFamily="18" charset="0"/>
              <a:cs typeface="Times New Roman" panose="02020603050405020304" pitchFamily="18" charset="0"/>
            </a:endParaRPr>
          </a:p>
          <a:p>
            <a:pPr algn="l"/>
            <a:r>
              <a:rPr lang="en-US" altLang="en-US">
                <a:latin typeface="Times New Roman" panose="02020603050405020304" pitchFamily="18" charset="0"/>
                <a:cs typeface="Times New Roman" panose="02020603050405020304" pitchFamily="18" charset="0"/>
              </a:rPr>
              <a:t>• Evaluation of model effectiveness in predicting song popularity.</a:t>
            </a:r>
            <a:endParaRPr lang="en-US" altLang="en-US">
              <a:latin typeface="Times New Roman" panose="02020603050405020304" pitchFamily="18" charset="0"/>
              <a:cs typeface="Times New Roman" panose="02020603050405020304" pitchFamily="18" charset="0"/>
            </a:endParaRPr>
          </a:p>
          <a:p>
            <a:pPr algn="l"/>
            <a:endParaRPr lang="en-US" altLang="en-US">
              <a:latin typeface="Times New Roman" panose="02020603050405020304" pitchFamily="18" charset="0"/>
              <a:cs typeface="Times New Roman" panose="02020603050405020304" pitchFamily="18" charset="0"/>
            </a:endParaRPr>
          </a:p>
          <a:p>
            <a:pPr algn="l"/>
            <a:r>
              <a:rPr lang="en-US" altLang="en-US">
                <a:latin typeface="Times New Roman" panose="02020603050405020304" pitchFamily="18" charset="0"/>
                <a:cs typeface="Times New Roman" panose="02020603050405020304" pitchFamily="18" charset="0"/>
              </a:rPr>
              <a:t>• Highlighting the limitations of predicting popularity using only audio features.</a:t>
            </a:r>
            <a:endParaRPr lang="en-US" altLang="en-US">
              <a:latin typeface="Times New Roman" panose="02020603050405020304" pitchFamily="18" charset="0"/>
              <a:cs typeface="Times New Roman" panose="02020603050405020304" pitchFamily="18" charset="0"/>
            </a:endParaRPr>
          </a:p>
        </p:txBody>
      </p:sp>
      <p:sp>
        <p:nvSpPr>
          <p:cNvPr id="3" name="Text Box 2"/>
          <p:cNvSpPr txBox="1"/>
          <p:nvPr/>
        </p:nvSpPr>
        <p:spPr>
          <a:xfrm>
            <a:off x="507365" y="220980"/>
            <a:ext cx="6017260" cy="583565"/>
          </a:xfrm>
          <a:prstGeom prst="rect">
            <a:avLst/>
          </a:prstGeom>
          <a:noFill/>
        </p:spPr>
        <p:txBody>
          <a:bodyPr wrap="square" rtlCol="0">
            <a:spAutoFit/>
          </a:bodyPr>
          <a:p>
            <a:pPr algn="ctr"/>
            <a:r>
              <a:rPr lang="en-IN" altLang="en-US" sz="3200">
                <a:latin typeface="Times New Roman" panose="02020603050405020304" pitchFamily="18" charset="0"/>
                <a:cs typeface="Times New Roman" panose="02020603050405020304" pitchFamily="18" charset="0"/>
              </a:rPr>
              <a:t>              Key Features</a:t>
            </a:r>
            <a:endParaRPr lang="en-IN" altLang="en-US" sz="320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5885" y="280035"/>
            <a:ext cx="6505575" cy="444500"/>
          </a:xfrm>
          <a:prstGeom prst="rect">
            <a:avLst/>
          </a:prstGeom>
          <a:noFill/>
        </p:spPr>
        <p:txBody>
          <a:bodyPr wrap="square" rtlCol="0">
            <a:noAutofit/>
          </a:bodyPr>
          <a:p>
            <a:pPr algn="ctr"/>
            <a:r>
              <a:rPr lang="en-IN" altLang="en-US" sz="3200">
                <a:latin typeface="Times New Roman" panose="02020603050405020304" pitchFamily="18" charset="0"/>
                <a:cs typeface="Times New Roman" panose="02020603050405020304" pitchFamily="18" charset="0"/>
              </a:rPr>
              <a:t>            Objectives</a:t>
            </a:r>
            <a:endParaRPr lang="en-IN" altLang="en-US" sz="3200">
              <a:latin typeface="Times New Roman" panose="02020603050405020304" pitchFamily="18" charset="0"/>
              <a:cs typeface="Times New Roman" panose="02020603050405020304" pitchFamily="18" charset="0"/>
            </a:endParaRPr>
          </a:p>
        </p:txBody>
      </p:sp>
      <p:sp>
        <p:nvSpPr>
          <p:cNvPr id="3" name="Text Box 2"/>
          <p:cNvSpPr txBox="1"/>
          <p:nvPr/>
        </p:nvSpPr>
        <p:spPr>
          <a:xfrm>
            <a:off x="235585" y="1076960"/>
            <a:ext cx="8333740" cy="5435600"/>
          </a:xfrm>
          <a:prstGeom prst="rect">
            <a:avLst/>
          </a:prstGeom>
          <a:noFill/>
        </p:spPr>
        <p:txBody>
          <a:bodyPr wrap="square" rtlCol="0">
            <a:noAutofit/>
          </a:bodyPr>
          <a:p>
            <a:r>
              <a:rPr lang="en-US" altLang="en-US" sz="2000">
                <a:latin typeface="Times New Roman" panose="02020603050405020304" pitchFamily="18" charset="0"/>
                <a:cs typeface="Times New Roman" panose="02020603050405020304" pitchFamily="18" charset="0"/>
              </a:rPr>
              <a:t>• To analyze the relationship between audio features and song popularity.</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 To use a real-world Spotify dataset for data-driven analysis.</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 To apply machine learning models for predicting song popularity.</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 To compare the performance of different models such as Linear Regression, Decision Tree, Random Forest, and Neural Networks.</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 To evaluate model performance using metrics such as Mean Squared Error (MSE) and R-squared (R²).</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 To identify the most effective model for predicting song popularity.</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 To understand the limitations of predicting popularity using only audio features</a:t>
            </a:r>
            <a:r>
              <a:rPr lang="en-US" altLang="en-US"/>
              <a:t>.</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88900"/>
            <a:ext cx="6710045" cy="799465"/>
          </a:xfrm>
          <a:prstGeom prst="rect">
            <a:avLst/>
          </a:prstGeom>
          <a:noFill/>
        </p:spPr>
        <p:txBody>
          <a:bodyPr wrap="square" rtlCol="0">
            <a:noAutofit/>
          </a:bodyPr>
          <a:p>
            <a:pPr algn="ctr"/>
            <a:r>
              <a:rPr lang="en-IN" altLang="en-US" sz="3200">
                <a:latin typeface="Times New Roman" panose="02020603050405020304" pitchFamily="18" charset="0"/>
                <a:cs typeface="Times New Roman" panose="02020603050405020304" pitchFamily="18" charset="0"/>
              </a:rPr>
              <a:t>                Tools and technologies</a:t>
            </a:r>
            <a:endParaRPr lang="en-IN" altLang="en-US" sz="3200">
              <a:latin typeface="Times New Roman" panose="02020603050405020304" pitchFamily="18" charset="0"/>
              <a:cs typeface="Times New Roman" panose="02020603050405020304" pitchFamily="18" charset="0"/>
            </a:endParaRPr>
          </a:p>
        </p:txBody>
      </p:sp>
      <p:sp>
        <p:nvSpPr>
          <p:cNvPr id="3" name="Text Box 2"/>
          <p:cNvSpPr txBox="1"/>
          <p:nvPr/>
        </p:nvSpPr>
        <p:spPr>
          <a:xfrm>
            <a:off x="167640" y="1038225"/>
            <a:ext cx="8035925" cy="4983480"/>
          </a:xfrm>
          <a:prstGeom prst="rect">
            <a:avLst/>
          </a:prstGeom>
          <a:noFill/>
        </p:spPr>
        <p:txBody>
          <a:bodyPr wrap="square" rtlCol="0">
            <a:noAutofit/>
          </a:bodyPr>
          <a:p>
            <a:endParaRPr lang="en-US" altLang="en-US"/>
          </a:p>
          <a:p>
            <a:r>
              <a:rPr lang="en-US" altLang="en-US">
                <a:latin typeface="Times New Roman" panose="02020603050405020304" pitchFamily="18" charset="0"/>
                <a:cs typeface="Times New Roman" panose="02020603050405020304" pitchFamily="18" charset="0"/>
                <a:sym typeface="+mn-ea"/>
              </a:rPr>
              <a:t>•</a:t>
            </a:r>
            <a:r>
              <a:rPr lang="en-US" altLang="en-US">
                <a:latin typeface="Times New Roman" panose="02020603050405020304" pitchFamily="18" charset="0"/>
                <a:cs typeface="Times New Roman" panose="02020603050405020304" pitchFamily="18" charset="0"/>
              </a:rPr>
              <a:t> Python: Used as the primary programming language for data analysis and model implementation.</a:t>
            </a:r>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sym typeface="+mn-ea"/>
              </a:rPr>
              <a:t>•</a:t>
            </a:r>
            <a:r>
              <a:rPr lang="en-US" altLang="en-US">
                <a:latin typeface="Times New Roman" panose="02020603050405020304" pitchFamily="18" charset="0"/>
                <a:cs typeface="Times New Roman" panose="02020603050405020304" pitchFamily="18" charset="0"/>
              </a:rPr>
              <a:t> NumPy: Used for numerical computations and handling array-based data efficiently.</a:t>
            </a:r>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sym typeface="+mn-ea"/>
              </a:rPr>
              <a:t>•</a:t>
            </a:r>
            <a:r>
              <a:rPr lang="en-US" altLang="en-US">
                <a:latin typeface="Times New Roman" panose="02020603050405020304" pitchFamily="18" charset="0"/>
                <a:cs typeface="Times New Roman" panose="02020603050405020304" pitchFamily="18" charset="0"/>
              </a:rPr>
              <a:t> Pandas: Used for data manipulation, cleaning, and preprocessing of the dataset.</a:t>
            </a:r>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sym typeface="+mn-ea"/>
              </a:rPr>
              <a:t>•</a:t>
            </a:r>
            <a:r>
              <a:rPr lang="en-US" altLang="en-US">
                <a:latin typeface="Times New Roman" panose="02020603050405020304" pitchFamily="18" charset="0"/>
                <a:cs typeface="Times New Roman" panose="02020603050405020304" pitchFamily="18" charset="0"/>
              </a:rPr>
              <a:t> Matplotlib and Seaborn: Used for data visualization, including graphs and correlation analysis.</a:t>
            </a:r>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sym typeface="+mn-ea"/>
              </a:rPr>
              <a:t>•</a:t>
            </a:r>
            <a:r>
              <a:rPr lang="en-US" altLang="en-US">
                <a:latin typeface="Times New Roman" panose="02020603050405020304" pitchFamily="18" charset="0"/>
                <a:cs typeface="Times New Roman" panose="02020603050405020304" pitchFamily="18" charset="0"/>
              </a:rPr>
              <a:t> Scikit-learn: Used for implementing machine learning models such as Linear Regression, Decision Tree, and Random Forest.</a:t>
            </a:r>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sym typeface="+mn-ea"/>
              </a:rPr>
              <a:t>•</a:t>
            </a:r>
            <a:r>
              <a:rPr lang="en-US" altLang="en-US">
                <a:latin typeface="Times New Roman" panose="02020603050405020304" pitchFamily="18" charset="0"/>
                <a:cs typeface="Times New Roman" panose="02020603050405020304" pitchFamily="18" charset="0"/>
              </a:rPr>
              <a:t>TensorFlow/Keras: Used for building and training the Neural Network model.</a:t>
            </a:r>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sym typeface="+mn-ea"/>
              </a:rPr>
              <a:t>•</a:t>
            </a:r>
            <a:r>
              <a:rPr lang="en-US" altLang="en-US">
                <a:latin typeface="Times New Roman" panose="02020603050405020304" pitchFamily="18" charset="0"/>
                <a:cs typeface="Times New Roman" panose="02020603050405020304" pitchFamily="18" charset="0"/>
              </a:rPr>
              <a:t>Kaggle: Used as the source of the Spotify dataset for analysis.</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35" y="60960"/>
            <a:ext cx="6361430" cy="756920"/>
          </a:xfrm>
          <a:prstGeom prst="rect">
            <a:avLst/>
          </a:prstGeom>
          <a:noFill/>
        </p:spPr>
        <p:txBody>
          <a:bodyPr wrap="square" rtlCol="0">
            <a:noAutofit/>
          </a:bodyPr>
          <a:p>
            <a:pPr algn="ctr"/>
            <a:r>
              <a:rPr lang="en-IN" altLang="en-US"/>
              <a:t>References</a:t>
            </a:r>
            <a:endParaRPr lang="en-IN" altLang="en-US"/>
          </a:p>
        </p:txBody>
      </p:sp>
      <p:sp>
        <p:nvSpPr>
          <p:cNvPr id="5" name="Text Box 4"/>
          <p:cNvSpPr txBox="1"/>
          <p:nvPr/>
        </p:nvSpPr>
        <p:spPr>
          <a:xfrm>
            <a:off x="635" y="937260"/>
            <a:ext cx="9143365" cy="5711825"/>
          </a:xfrm>
          <a:prstGeom prst="rect">
            <a:avLst/>
          </a:prstGeom>
          <a:noFill/>
        </p:spPr>
        <p:txBody>
          <a:bodyPr wrap="square" rtlCol="0">
            <a:noAutofit/>
          </a:bodyPr>
          <a:p>
            <a:r>
              <a:rPr lang="en-US" altLang="en-US" sz="900">
                <a:latin typeface="Times New Roman" panose="02020603050405020304" pitchFamily="18" charset="0"/>
                <a:cs typeface="Times New Roman" panose="02020603050405020304" pitchFamily="18" charset="0"/>
              </a:rPr>
              <a:t>[1] Spotify, "Spotify Official Website." [Online]. Available: https://www.spotify.com</a:t>
            </a:r>
            <a:endParaRPr lang="en-US" altLang="en-US" sz="900">
              <a:latin typeface="Times New Roman" panose="02020603050405020304" pitchFamily="18" charset="0"/>
              <a:cs typeface="Times New Roman" panose="02020603050405020304" pitchFamily="18" charset="0"/>
            </a:endParaRPr>
          </a:p>
          <a:p>
            <a:endParaRPr lang="en-US" altLang="en-US" sz="900">
              <a:latin typeface="Times New Roman" panose="02020603050405020304" pitchFamily="18" charset="0"/>
              <a:cs typeface="Times New Roman" panose="02020603050405020304" pitchFamily="18" charset="0"/>
            </a:endParaRPr>
          </a:p>
          <a:p>
            <a:r>
              <a:rPr lang="en-US" altLang="en-US" sz="900">
                <a:latin typeface="Times New Roman" panose="02020603050405020304" pitchFamily="18" charset="0"/>
                <a:cs typeface="Times New Roman" panose="02020603050405020304" pitchFamily="18" charset="0"/>
              </a:rPr>
              <a:t>[2] Kaggle, "Spotify Dataset." [Online]. Available: https://www.kaggle.com</a:t>
            </a:r>
            <a:endParaRPr lang="en-US" altLang="en-US" sz="900">
              <a:latin typeface="Times New Roman" panose="02020603050405020304" pitchFamily="18" charset="0"/>
              <a:cs typeface="Times New Roman" panose="02020603050405020304" pitchFamily="18" charset="0"/>
            </a:endParaRPr>
          </a:p>
          <a:p>
            <a:endParaRPr lang="en-US" altLang="en-US" sz="900">
              <a:latin typeface="Times New Roman" panose="02020603050405020304" pitchFamily="18" charset="0"/>
              <a:cs typeface="Times New Roman" panose="02020603050405020304" pitchFamily="18" charset="0"/>
            </a:endParaRPr>
          </a:p>
          <a:p>
            <a:r>
              <a:rPr lang="en-US" altLang="en-US" sz="900">
                <a:latin typeface="Times New Roman" panose="02020603050405020304" pitchFamily="18" charset="0"/>
                <a:cs typeface="Times New Roman" panose="02020603050405020304" pitchFamily="18" charset="0"/>
              </a:rPr>
              <a:t>[3] F. Pedregosa et al., "Scikit-learn: Machine Learning in Python," Journal of Machine Learning Research, 2011.</a:t>
            </a:r>
            <a:endParaRPr lang="en-US" altLang="en-US" sz="900">
              <a:latin typeface="Times New Roman" panose="02020603050405020304" pitchFamily="18" charset="0"/>
              <a:cs typeface="Times New Roman" panose="02020603050405020304" pitchFamily="18" charset="0"/>
            </a:endParaRPr>
          </a:p>
          <a:p>
            <a:endParaRPr lang="en-US" altLang="en-US" sz="900">
              <a:latin typeface="Times New Roman" panose="02020603050405020304" pitchFamily="18" charset="0"/>
              <a:cs typeface="Times New Roman" panose="02020603050405020304" pitchFamily="18" charset="0"/>
            </a:endParaRPr>
          </a:p>
          <a:p>
            <a:r>
              <a:rPr lang="en-US" altLang="en-US" sz="900">
                <a:latin typeface="Times New Roman" panose="02020603050405020304" pitchFamily="18" charset="0"/>
                <a:cs typeface="Times New Roman" panose="02020603050405020304" pitchFamily="18" charset="0"/>
              </a:rPr>
              <a:t>[4] C. R. Harris et al., "Array programming with NumPy," Nature, 2020.</a:t>
            </a:r>
            <a:endParaRPr lang="en-US" altLang="en-US" sz="900">
              <a:latin typeface="Times New Roman" panose="02020603050405020304" pitchFamily="18" charset="0"/>
              <a:cs typeface="Times New Roman" panose="02020603050405020304" pitchFamily="18" charset="0"/>
            </a:endParaRPr>
          </a:p>
          <a:p>
            <a:endParaRPr lang="en-US" altLang="en-US" sz="900">
              <a:latin typeface="Times New Roman" panose="02020603050405020304" pitchFamily="18" charset="0"/>
              <a:cs typeface="Times New Roman" panose="02020603050405020304" pitchFamily="18" charset="0"/>
            </a:endParaRPr>
          </a:p>
          <a:p>
            <a:r>
              <a:rPr lang="en-US" altLang="en-US" sz="900">
                <a:latin typeface="Times New Roman" panose="02020603050405020304" pitchFamily="18" charset="0"/>
                <a:cs typeface="Times New Roman" panose="02020603050405020304" pitchFamily="18" charset="0"/>
              </a:rPr>
              <a:t>[5] W. McKinney, "Data Structures for Statistical Computing in Python," Proc. SciPy, 2010.</a:t>
            </a:r>
            <a:endParaRPr lang="en-US" altLang="en-US" sz="900">
              <a:latin typeface="Times New Roman" panose="02020603050405020304" pitchFamily="18" charset="0"/>
              <a:cs typeface="Times New Roman" panose="02020603050405020304" pitchFamily="18" charset="0"/>
            </a:endParaRPr>
          </a:p>
          <a:p>
            <a:endParaRPr lang="en-US" altLang="en-US" sz="900">
              <a:latin typeface="Times New Roman" panose="02020603050405020304" pitchFamily="18" charset="0"/>
              <a:cs typeface="Times New Roman" panose="02020603050405020304" pitchFamily="18" charset="0"/>
            </a:endParaRPr>
          </a:p>
          <a:p>
            <a:r>
              <a:rPr lang="en-US" altLang="en-US" sz="900">
                <a:latin typeface="Times New Roman" panose="02020603050405020304" pitchFamily="18" charset="0"/>
                <a:cs typeface="Times New Roman" panose="02020603050405020304" pitchFamily="18" charset="0"/>
              </a:rPr>
              <a:t>[6] S. Bhavanasi et al., "Spotify Data Analysis and Song Popularity Prediction," 2022.</a:t>
            </a:r>
            <a:endParaRPr lang="en-US" altLang="en-US" sz="900">
              <a:latin typeface="Times New Roman" panose="02020603050405020304" pitchFamily="18" charset="0"/>
              <a:cs typeface="Times New Roman" panose="02020603050405020304" pitchFamily="18" charset="0"/>
            </a:endParaRPr>
          </a:p>
          <a:p>
            <a:endParaRPr lang="en-US" altLang="en-US" sz="900">
              <a:latin typeface="Times New Roman" panose="02020603050405020304" pitchFamily="18" charset="0"/>
              <a:cs typeface="Times New Roman" panose="02020603050405020304" pitchFamily="18" charset="0"/>
            </a:endParaRPr>
          </a:p>
          <a:p>
            <a:r>
              <a:rPr lang="en-US" altLang="en-US" sz="900">
                <a:latin typeface="Times New Roman" panose="02020603050405020304" pitchFamily="18" charset="0"/>
                <a:cs typeface="Times New Roman" panose="02020603050405020304" pitchFamily="18" charset="0"/>
              </a:rPr>
              <a:t>[7] J. Brownlee, "Machine Learning Mastery with Python," Machine Learning Mastery, 2016.</a:t>
            </a:r>
            <a:endParaRPr lang="en-US" altLang="en-US" sz="900">
              <a:latin typeface="Times New Roman" panose="02020603050405020304" pitchFamily="18" charset="0"/>
              <a:cs typeface="Times New Roman" panose="02020603050405020304" pitchFamily="18" charset="0"/>
            </a:endParaRPr>
          </a:p>
          <a:p>
            <a:endParaRPr lang="en-US" altLang="en-US" sz="900">
              <a:latin typeface="Times New Roman" panose="02020603050405020304" pitchFamily="18" charset="0"/>
              <a:cs typeface="Times New Roman" panose="02020603050405020304" pitchFamily="18" charset="0"/>
            </a:endParaRPr>
          </a:p>
          <a:p>
            <a:r>
              <a:rPr lang="en-US" altLang="en-US" sz="900">
                <a:latin typeface="Times New Roman" panose="02020603050405020304" pitchFamily="18" charset="0"/>
                <a:cs typeface="Times New Roman" panose="02020603050405020304" pitchFamily="18" charset="0"/>
              </a:rPr>
              <a:t>[8] L. Breiman, "Random Forests," Machine Learning, vol. 45, no. 1, pp. 5–32, 2001.</a:t>
            </a:r>
            <a:endParaRPr lang="en-US" altLang="en-US" sz="900">
              <a:latin typeface="Times New Roman" panose="02020603050405020304" pitchFamily="18" charset="0"/>
              <a:cs typeface="Times New Roman" panose="02020603050405020304" pitchFamily="18" charset="0"/>
            </a:endParaRPr>
          </a:p>
          <a:p>
            <a:endParaRPr lang="en-US" altLang="en-US" sz="900">
              <a:latin typeface="Times New Roman" panose="02020603050405020304" pitchFamily="18" charset="0"/>
              <a:cs typeface="Times New Roman" panose="02020603050405020304" pitchFamily="18" charset="0"/>
            </a:endParaRPr>
          </a:p>
          <a:p>
            <a:r>
              <a:rPr lang="en-US" altLang="en-US" sz="900">
                <a:latin typeface="Times New Roman" panose="02020603050405020304" pitchFamily="18" charset="0"/>
                <a:cs typeface="Times New Roman" panose="02020603050405020304" pitchFamily="18" charset="0"/>
              </a:rPr>
              <a:t>[9] T. Hastie, R. Tibshirani, and J. Friedman, "The Elements of Statistical Learning," Springer, 2009.</a:t>
            </a:r>
            <a:endParaRPr lang="en-US" altLang="en-US" sz="900">
              <a:latin typeface="Times New Roman" panose="02020603050405020304" pitchFamily="18" charset="0"/>
              <a:cs typeface="Times New Roman" panose="02020603050405020304" pitchFamily="18" charset="0"/>
            </a:endParaRPr>
          </a:p>
          <a:p>
            <a:endParaRPr lang="en-US" altLang="en-US" sz="900">
              <a:latin typeface="Times New Roman" panose="02020603050405020304" pitchFamily="18" charset="0"/>
              <a:cs typeface="Times New Roman" panose="02020603050405020304" pitchFamily="18" charset="0"/>
            </a:endParaRPr>
          </a:p>
          <a:p>
            <a:r>
              <a:rPr lang="en-US" altLang="en-US" sz="900">
                <a:latin typeface="Times New Roman" panose="02020603050405020304" pitchFamily="18" charset="0"/>
                <a:cs typeface="Times New Roman" panose="02020603050405020304" pitchFamily="18" charset="0"/>
              </a:rPr>
              <a:t>[10] D. P. Kingma and J. Ba, "Adam: A Method for Stochastic Optimization," 2015.</a:t>
            </a:r>
            <a:endParaRPr lang="en-US" altLang="en-US" sz="900">
              <a:latin typeface="Times New Roman" panose="02020603050405020304" pitchFamily="18" charset="0"/>
              <a:cs typeface="Times New Roman" panose="02020603050405020304" pitchFamily="18" charset="0"/>
            </a:endParaRPr>
          </a:p>
          <a:p>
            <a:endParaRPr lang="en-US" altLang="en-US" sz="900">
              <a:latin typeface="Times New Roman" panose="02020603050405020304" pitchFamily="18" charset="0"/>
              <a:cs typeface="Times New Roman" panose="02020603050405020304" pitchFamily="18" charset="0"/>
            </a:endParaRPr>
          </a:p>
          <a:p>
            <a:r>
              <a:rPr lang="en-US" altLang="en-US" sz="900">
                <a:latin typeface="Times New Roman" panose="02020603050405020304" pitchFamily="18" charset="0"/>
                <a:cs typeface="Times New Roman" panose="02020603050405020304" pitchFamily="18" charset="0"/>
              </a:rPr>
              <a:t>[11] I. Goodfellow, Y. Bengio, and A. Courville, "Deep Learning," MIT Press, 2016.</a:t>
            </a:r>
            <a:endParaRPr lang="en-US" altLang="en-US" sz="900">
              <a:latin typeface="Times New Roman" panose="02020603050405020304" pitchFamily="18" charset="0"/>
              <a:cs typeface="Times New Roman" panose="02020603050405020304" pitchFamily="18" charset="0"/>
            </a:endParaRPr>
          </a:p>
          <a:p>
            <a:endParaRPr lang="en-US" altLang="en-US" sz="900">
              <a:latin typeface="Times New Roman" panose="02020603050405020304" pitchFamily="18" charset="0"/>
              <a:cs typeface="Times New Roman" panose="02020603050405020304" pitchFamily="18" charset="0"/>
            </a:endParaRPr>
          </a:p>
          <a:p>
            <a:r>
              <a:rPr lang="en-US" altLang="en-US" sz="900">
                <a:latin typeface="Times New Roman" panose="02020603050405020304" pitchFamily="18" charset="0"/>
                <a:cs typeface="Times New Roman" panose="02020603050405020304" pitchFamily="18" charset="0"/>
              </a:rPr>
              <a:t>[12] A. Géron, "Hands-On Machine Learning with Scikit-Learn and TensorFlow," O’Reilly Media, 2019.</a:t>
            </a:r>
            <a:endParaRPr lang="en-US" altLang="en-US" sz="900">
              <a:latin typeface="Times New Roman" panose="02020603050405020304" pitchFamily="18" charset="0"/>
              <a:cs typeface="Times New Roman" panose="02020603050405020304" pitchFamily="18" charset="0"/>
            </a:endParaRPr>
          </a:p>
          <a:p>
            <a:endParaRPr lang="en-US" altLang="en-US" sz="900">
              <a:latin typeface="Times New Roman" panose="02020603050405020304" pitchFamily="18" charset="0"/>
              <a:cs typeface="Times New Roman" panose="02020603050405020304" pitchFamily="18" charset="0"/>
            </a:endParaRPr>
          </a:p>
          <a:p>
            <a:r>
              <a:rPr lang="en-US" altLang="en-US" sz="900">
                <a:latin typeface="Times New Roman" panose="02020603050405020304" pitchFamily="18" charset="0"/>
                <a:cs typeface="Times New Roman" panose="02020603050405020304" pitchFamily="18" charset="0"/>
              </a:rPr>
              <a:t>[13] K. Murphy, "Machine Learning: A Probabilistic Perspective," MIT Press, 2012.</a:t>
            </a:r>
            <a:endParaRPr lang="en-US" altLang="en-US" sz="900">
              <a:latin typeface="Times New Roman" panose="02020603050405020304" pitchFamily="18" charset="0"/>
              <a:cs typeface="Times New Roman" panose="02020603050405020304" pitchFamily="18" charset="0"/>
            </a:endParaRPr>
          </a:p>
          <a:p>
            <a:endParaRPr lang="en-US" altLang="en-US" sz="900">
              <a:latin typeface="Times New Roman" panose="02020603050405020304" pitchFamily="18" charset="0"/>
              <a:cs typeface="Times New Roman" panose="02020603050405020304" pitchFamily="18" charset="0"/>
            </a:endParaRPr>
          </a:p>
          <a:p>
            <a:r>
              <a:rPr lang="en-US" altLang="en-US" sz="900">
                <a:latin typeface="Times New Roman" panose="02020603050405020304" pitchFamily="18" charset="0"/>
                <a:cs typeface="Times New Roman" panose="02020603050405020304" pitchFamily="18" charset="0"/>
              </a:rPr>
              <a:t>[14] J. Han, M. Kamber, and J. Pei, "Data Mining: Concepts and Techniques," Elsevier, 2011.</a:t>
            </a:r>
            <a:endParaRPr lang="en-US" altLang="en-US" sz="900">
              <a:latin typeface="Times New Roman" panose="02020603050405020304" pitchFamily="18" charset="0"/>
              <a:cs typeface="Times New Roman" panose="02020603050405020304" pitchFamily="18" charset="0"/>
            </a:endParaRPr>
          </a:p>
          <a:p>
            <a:endParaRPr lang="en-US" altLang="en-US" sz="900">
              <a:latin typeface="Times New Roman" panose="02020603050405020304" pitchFamily="18" charset="0"/>
              <a:cs typeface="Times New Roman" panose="02020603050405020304" pitchFamily="18" charset="0"/>
            </a:endParaRPr>
          </a:p>
          <a:p>
            <a:r>
              <a:rPr lang="en-US" altLang="en-US" sz="900">
                <a:latin typeface="Times New Roman" panose="02020603050405020304" pitchFamily="18" charset="0"/>
                <a:cs typeface="Times New Roman" panose="02020603050405020304" pitchFamily="18" charset="0"/>
              </a:rPr>
              <a:t>[15] B. McFee et al., "librosa: Audio and Music Signal Analysis in Python," Proc. SciPy, 2015.</a:t>
            </a:r>
            <a:endParaRPr lang="en-US" altLang="en-US" sz="900">
              <a:latin typeface="Times New Roman" panose="02020603050405020304" pitchFamily="18" charset="0"/>
              <a:cs typeface="Times New Roman" panose="02020603050405020304" pitchFamily="18" charset="0"/>
            </a:endParaRPr>
          </a:p>
          <a:p>
            <a:endParaRPr lang="en-US" altLang="en-US" sz="900">
              <a:latin typeface="Times New Roman" panose="02020603050405020304" pitchFamily="18" charset="0"/>
              <a:cs typeface="Times New Roman" panose="02020603050405020304" pitchFamily="18" charset="0"/>
            </a:endParaRPr>
          </a:p>
          <a:p>
            <a:r>
              <a:rPr lang="en-US" altLang="en-US" sz="900">
                <a:latin typeface="Times New Roman" panose="02020603050405020304" pitchFamily="18" charset="0"/>
                <a:cs typeface="Times New Roman" panose="02020603050405020304" pitchFamily="18" charset="0"/>
              </a:rPr>
              <a:t>[16] M. Müller, "Fundamentals of Music Processing," Springer, 2015.</a:t>
            </a:r>
            <a:endParaRPr lang="en-US" altLang="en-US" sz="900">
              <a:latin typeface="Times New Roman" panose="02020603050405020304" pitchFamily="18" charset="0"/>
              <a:cs typeface="Times New Roman" panose="02020603050405020304" pitchFamily="18" charset="0"/>
            </a:endParaRPr>
          </a:p>
          <a:p>
            <a:endParaRPr lang="en-US" altLang="en-US" sz="900">
              <a:latin typeface="Times New Roman" panose="02020603050405020304" pitchFamily="18" charset="0"/>
              <a:cs typeface="Times New Roman" panose="02020603050405020304" pitchFamily="18" charset="0"/>
            </a:endParaRPr>
          </a:p>
          <a:p>
            <a:r>
              <a:rPr lang="en-US" altLang="en-US" sz="900">
                <a:latin typeface="Times New Roman" panose="02020603050405020304" pitchFamily="18" charset="0"/>
                <a:cs typeface="Times New Roman" panose="02020603050405020304" pitchFamily="18" charset="0"/>
              </a:rPr>
              <a:t>[17] Y. Hu, X. Chen, and D. Yang, "Music Recommendation Based on Audio Features and User Preferences," IEEE Access, 2018.</a:t>
            </a:r>
            <a:endParaRPr lang="en-US" altLang="en-US" sz="900">
              <a:latin typeface="Times New Roman" panose="02020603050405020304" pitchFamily="18" charset="0"/>
              <a:cs typeface="Times New Roman" panose="02020603050405020304" pitchFamily="18" charset="0"/>
            </a:endParaRPr>
          </a:p>
          <a:p>
            <a:endParaRPr lang="en-US" altLang="en-US" sz="900">
              <a:latin typeface="Times New Roman" panose="02020603050405020304" pitchFamily="18" charset="0"/>
              <a:cs typeface="Times New Roman" panose="02020603050405020304" pitchFamily="18" charset="0"/>
            </a:endParaRPr>
          </a:p>
          <a:p>
            <a:r>
              <a:rPr lang="en-US" altLang="en-US" sz="900">
                <a:latin typeface="Times New Roman" panose="02020603050405020304" pitchFamily="18" charset="0"/>
                <a:cs typeface="Times New Roman" panose="02020603050405020304" pitchFamily="18" charset="0"/>
              </a:rPr>
              <a:t>[18] R. Knees and M. Schedl, "Music Similarity and Retrieval: An Introduction," Springer, 2016.</a:t>
            </a:r>
            <a:endParaRPr lang="en-US" altLang="en-US" sz="900">
              <a:latin typeface="Times New Roman" panose="02020603050405020304" pitchFamily="18" charset="0"/>
              <a:cs typeface="Times New Roman" panose="02020603050405020304" pitchFamily="18" charset="0"/>
            </a:endParaRPr>
          </a:p>
          <a:p>
            <a:endParaRPr lang="en-US" altLang="en-US" sz="900">
              <a:latin typeface="Times New Roman" panose="02020603050405020304" pitchFamily="18" charset="0"/>
              <a:cs typeface="Times New Roman" panose="02020603050405020304" pitchFamily="18" charset="0"/>
            </a:endParaRPr>
          </a:p>
          <a:p>
            <a:r>
              <a:rPr lang="en-US" altLang="en-US" sz="900">
                <a:latin typeface="Times New Roman" panose="02020603050405020304" pitchFamily="18" charset="0"/>
                <a:cs typeface="Times New Roman" panose="02020603050405020304" pitchFamily="18" charset="0"/>
              </a:rPr>
              <a:t>[19] G. Tzanetakis and P. Cook, "Musical Genre Classification of Audio Signals," IEEE Transactions on Speech and Audio Processing, 2002.</a:t>
            </a:r>
            <a:endParaRPr lang="en-US" altLang="en-US" sz="900">
              <a:latin typeface="Times New Roman" panose="02020603050405020304" pitchFamily="18" charset="0"/>
              <a:cs typeface="Times New Roman" panose="02020603050405020304" pitchFamily="18" charset="0"/>
            </a:endParaRPr>
          </a:p>
          <a:p>
            <a:r>
              <a:rPr lang="en-US" altLang="en-US" sz="900">
                <a:latin typeface="Times New Roman" panose="02020603050405020304" pitchFamily="18" charset="0"/>
                <a:cs typeface="Times New Roman" panose="02020603050405020304" pitchFamily="18" charset="0"/>
              </a:rPr>
              <a:t> </a:t>
            </a:r>
            <a:endParaRPr lang="en-US" altLang="en-US" sz="900">
              <a:latin typeface="Times New Roman" panose="02020603050405020304" pitchFamily="18" charset="0"/>
              <a:cs typeface="Times New Roman" panose="02020603050405020304" pitchFamily="18" charset="0"/>
            </a:endParaRPr>
          </a:p>
          <a:p>
            <a:r>
              <a:rPr lang="en-US" altLang="en-US" sz="900">
                <a:latin typeface="Times New Roman" panose="02020603050405020304" pitchFamily="18" charset="0"/>
                <a:cs typeface="Times New Roman" panose="02020603050405020304" pitchFamily="18" charset="0"/>
              </a:rPr>
              <a:t>[20]S. Dieleman and B. Schrauwen, "End-to-End Learning for Music Audio," IEEE ICASSP, 2014.  </a:t>
            </a:r>
            <a:endParaRPr lang="en-US" sz="90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GB"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fld>
            <a:endParaRPr lang="en-GB" sz="1200" b="0" strike="noStrike" spc="-1">
              <a:latin typeface="Times New Roman" panose="020206030504050203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datastoreItem>
</file>

<file path=customXml/itemProps2.xml><?xml version="1.0" encoding="utf-8"?>
<ds:datastoreItem xmlns:ds="http://schemas.openxmlformats.org/officeDocument/2006/customXml" ds:itemID="{737ED6F0-5E4C-4CD0-9B68-9C53F925A6F7}">
  <ds:schemaRefs/>
</ds:datastoreItem>
</file>

<file path=customXml/itemProps3.xml><?xml version="1.0" encoding="utf-8"?>
<ds:datastoreItem xmlns:ds="http://schemas.openxmlformats.org/officeDocument/2006/customXml" ds:itemID="{491DF113-39A2-46D5-BFDA-E63300A9ECAB}">
  <ds:schemaRefs/>
</ds:datastoreItem>
</file>

<file path=docProps/app.xml><?xml version="1.0" encoding="utf-8"?>
<Properties xmlns="http://schemas.openxmlformats.org/officeDocument/2006/extended-properties" xmlns:vt="http://schemas.openxmlformats.org/officeDocument/2006/docPropsVTypes">
  <TotalTime>0</TotalTime>
  <Words>9329</Words>
  <Application>WPS Presentation</Application>
  <PresentationFormat>On-screen Show (4:3)</PresentationFormat>
  <Paragraphs>161</Paragraphs>
  <Slides>10</Slides>
  <Notes>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10</vt:i4>
      </vt:variant>
    </vt:vector>
  </HeadingPairs>
  <TitlesOfParts>
    <vt:vector size="25" baseType="lpstr">
      <vt:lpstr>Arial</vt:lpstr>
      <vt:lpstr>SimSun</vt:lpstr>
      <vt:lpstr>Wingdings</vt:lpstr>
      <vt:lpstr>Calibri</vt:lpstr>
      <vt:lpstr>MS PGothic</vt:lpstr>
      <vt:lpstr>Arial</vt:lpstr>
      <vt:lpstr>Times New Roman</vt:lpstr>
      <vt:lpstr>Times New Roman</vt:lpstr>
      <vt:lpstr>Calibri</vt:lpstr>
      <vt:lpstr>Microsoft YaHei</vt:lpstr>
      <vt:lpstr>Arial Unicode MS</vt:lpstr>
      <vt:lpstr>DejaVu Sans</vt:lpstr>
      <vt:lpstr>ＭＳ 明朝</vt:lpstr>
      <vt:lpstr>Segoe Print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CCC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Ansh Puri</cp:lastModifiedBy>
  <cp:revision>2303</cp:revision>
  <dcterms:created xsi:type="dcterms:W3CDTF">2010-04-09T07:36:00Z</dcterms:created>
  <dcterms:modified xsi:type="dcterms:W3CDTF">2026-05-19T01:27:48Z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y fmtid="{D5CDD505-2E9C-101B-9397-08002B2CF9AE}" pid="14" name="KSOProductBuildVer">
    <vt:lpwstr>1033-12.1.0.26372</vt:lpwstr>
  </property>
  <property fmtid="{D5CDD505-2E9C-101B-9397-08002B2CF9AE}" pid="15" name="ICV">
    <vt:lpwstr>052440D8C91B468C95DDFDF9D68FE583_12</vt:lpwstr>
  </property>
</Properties>
</file>