
<file path=[Content_Types].xml><?xml version="1.0" encoding="utf-8"?>
<Types xmlns="http://schemas.openxmlformats.org/package/2006/content-types">
  <Default Extension="xml" ContentType="application/xml"/>
  <Default Extension="png" ContentType="image/png"/>
  <Default Extension="jpeg" ContentType="image/jpeg"/>
  <Default Extension="JPG" ContentType="image/.jp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handoutMasterIdLst>
    <p:handoutMasterId r:id="rId10"/>
  </p:handoutMasterIdLst>
  <p:sldIdLst>
    <p:sldId id="256" r:id="rId3"/>
    <p:sldId id="257" r:id="rId5"/>
    <p:sldId id="269" r:id="rId6"/>
    <p:sldId id="270" r:id="rId7"/>
    <p:sldId id="271" r:id="rId8"/>
    <p:sldId id="268" r:id="rId9"/>
  </p:sldIdLst>
  <p:sldSz cx="9144000" cy="6858000" type="screen4x3"/>
  <p:notesSz cx="7559675" cy="1069149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p:scale>
          <a:sx n="118" d="100"/>
          <a:sy n="118" d="100"/>
        </p:scale>
        <p:origin x="-1482" y="-18"/>
      </p:cViewPr>
      <p:guideLst>
        <p:guide orient="horz" pos="2160"/>
        <p:guide pos="288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customXml" Target="../customXml/item3.xml"/><Relationship Id="rId15" Type="http://schemas.openxmlformats.org/officeDocument/2006/relationships/customXml" Target="../customXml/item2.xml"/><Relationship Id="rId14" Type="http://schemas.openxmlformats.org/officeDocument/2006/relationships/customXml" Target="../customXml/item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handoutMaster" Target="handoutMasters/handoutMaster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fld>
            <a:endParaRPr lang="en-US"/>
          </a:p>
        </p:txBody>
      </p:sp>
      <p:sp>
        <p:nvSpPr>
          <p:cNvPr id="4" name="Footer Placeholder 3"/>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endParaRPr lang="en-US"/>
          </a:p>
        </p:txBody>
      </p:sp>
      <p:sp>
        <p:nvSpPr>
          <p:cNvPr id="5" name="Slide Number Placeholder 4"/>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fld>
            <a:endParaRPr lang="en-US"/>
          </a:p>
        </p:txBody>
      </p:sp>
    </p:spTree>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endParaRPr lang="en-US"/>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fld>
            <a:endParaRPr lang="en-US"/>
          </a:p>
        </p:txBody>
      </p:sp>
    </p:spTree>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fld>
            <a:endParaRPr lang="en-US"/>
          </a:p>
        </p:txBody>
      </p:sp>
      <p:sp>
        <p:nvSpPr>
          <p:cNvPr id="5" name="Footer Placeholder 4"/>
          <p:cNvSpPr>
            <a:spLocks noGrp="1"/>
          </p:cNvSpPr>
          <p:nvPr>
            <p:ph type="ftr" sz="quarter" idx="4"/>
          </p:nvPr>
        </p:nvSpPr>
        <p:spPr/>
        <p:txBody>
          <a:bodyPr/>
          <a:lstStyle/>
          <a:p>
            <a:r>
              <a:rPr lang="en-US"/>
              <a:t>Name of the faculty [Group: G00] [Sem:2nd]</a:t>
            </a:r>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dirty="0">
              <a:latin typeface="Arial" panose="020B0604020202020204"/>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panose="020B0604020202020204"/>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panose="020B0604020202020204"/>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panose="020F0502020204030204"/>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5" Type="http://schemas.openxmlformats.org/officeDocument/2006/relationships/theme" Target="../theme/theme1.xml"/><Relationship Id="rId14" Type="http://schemas.openxmlformats.org/officeDocument/2006/relationships/image" Target="../media/image2.jpeg"/><Relationship Id="rId13" Type="http://schemas.openxmlformats.org/officeDocument/2006/relationships/image" Target="../media/image1.png"/><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3"/>
          <a:srcRect b="10718"/>
          <a:stretch>
            <a:fillRect/>
          </a:stretch>
        </p:blipFill>
        <p:spPr>
          <a:xfrm>
            <a:off x="6553080" y="228600"/>
            <a:ext cx="2057040" cy="634680"/>
          </a:xfrm>
          <a:prstGeom prst="rect">
            <a:avLst/>
          </a:prstGeom>
          <a:ln w="9360">
            <a:noFill/>
          </a:ln>
        </p:spPr>
      </p:pic>
      <p:pic>
        <p:nvPicPr>
          <p:cNvPr id="3" name="Picture 10" descr="LOGO.gif"/>
          <p:cNvPicPr/>
          <p:nvPr/>
        </p:nvPicPr>
        <p:blipFill>
          <a:blip r:embed="rId13"/>
          <a:srcRect b="10718"/>
          <a:stretch>
            <a:fillRect/>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3"/>
            <a:srcRect b="10718"/>
            <a:stretch>
              <a:fillRect/>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4"/>
          <a:stretch>
            <a:fillRect/>
          </a:stretch>
        </p:blipFill>
        <p:spPr>
          <a:xfrm>
            <a:off x="6553080" y="228600"/>
            <a:ext cx="1920600" cy="609120"/>
          </a:xfrm>
          <a:prstGeom prst="rect">
            <a:avLst/>
          </a:prstGeom>
          <a:ln w="9360">
            <a:noFill/>
          </a:ln>
        </p:spPr>
      </p:pic>
      <p:pic>
        <p:nvPicPr>
          <p:cNvPr id="9" name="Picture 10" descr="LOGO.gif"/>
          <p:cNvPicPr/>
          <p:nvPr/>
        </p:nvPicPr>
        <p:blipFill>
          <a:blip r:embed="rId13"/>
          <a:srcRect b="10718"/>
          <a:stretch>
            <a:fillRect/>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3"/>
            <a:srcRect b="10718"/>
            <a:stretch>
              <a:fillRect/>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4"/>
          <a:stretch>
            <a:fillRect/>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panose="020F0502020204030204"/>
                <a:ea typeface="MS PGothic" panose="020B0600070205080204" charset="-128"/>
              </a:rPr>
              <a:t>Click to edit Master title style</a:t>
            </a:r>
            <a:endParaRPr lang="en-US" sz="3000" b="0" strike="noStrike" spc="-1" dirty="0">
              <a:solidFill>
                <a:srgbClr val="000000"/>
              </a:solidFill>
              <a:latin typeface="Arial" panose="020B0604020202020204"/>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2900" indent="-342900">
              <a:lnSpc>
                <a:spcPct val="100000"/>
              </a:lnSpc>
              <a:spcBef>
                <a:spcPts val="640"/>
              </a:spcBef>
              <a:buClr>
                <a:srgbClr val="000000"/>
              </a:buClr>
              <a:buFont typeface="Arial" panose="020B0604020202020204"/>
              <a:buChar char="•"/>
            </a:pPr>
            <a:r>
              <a:rPr lang="en-US" sz="3200" b="0" strike="noStrike" spc="-1" dirty="0">
                <a:solidFill>
                  <a:srgbClr val="000000"/>
                </a:solidFill>
                <a:latin typeface="Calibri" panose="020F0502020204030204"/>
                <a:ea typeface="MS PGothic" panose="020B0600070205080204" charset="-128"/>
              </a:rPr>
              <a:t>Click to edit Master text styles</a:t>
            </a:r>
            <a:endParaRPr lang="en-US" sz="3200" b="0" strike="noStrike" spc="-1" dirty="0">
              <a:solidFill>
                <a:srgbClr val="000000"/>
              </a:solidFill>
              <a:latin typeface="Calibri" panose="020F0502020204030204"/>
            </a:endParaRPr>
          </a:p>
          <a:p>
            <a:pPr marL="742950" lvl="1" indent="-285750">
              <a:lnSpc>
                <a:spcPct val="100000"/>
              </a:lnSpc>
              <a:spcBef>
                <a:spcPts val="560"/>
              </a:spcBef>
              <a:buClr>
                <a:srgbClr val="000000"/>
              </a:buClr>
              <a:buFont typeface="Arial" panose="020B0604020202020204"/>
              <a:buChar char="–"/>
            </a:pPr>
            <a:r>
              <a:rPr lang="en-US" sz="2800" b="0" strike="noStrike" spc="-1" dirty="0">
                <a:solidFill>
                  <a:srgbClr val="000000"/>
                </a:solidFill>
                <a:latin typeface="Calibri" panose="020F0502020204030204"/>
                <a:ea typeface="MS PGothic" panose="020B0600070205080204" charset="-128"/>
              </a:rPr>
              <a:t>Second level</a:t>
            </a:r>
            <a:endParaRPr lang="en-US" sz="2800" b="0" strike="noStrike" spc="-1" dirty="0">
              <a:solidFill>
                <a:srgbClr val="000000"/>
              </a:solidFill>
              <a:latin typeface="Calibri" panose="020F0502020204030204"/>
            </a:endParaRPr>
          </a:p>
          <a:p>
            <a:pPr marL="1143000" lvl="2" indent="-227965">
              <a:lnSpc>
                <a:spcPct val="100000"/>
              </a:lnSpc>
              <a:spcBef>
                <a:spcPts val="480"/>
              </a:spcBef>
              <a:buClr>
                <a:srgbClr val="000000"/>
              </a:buClr>
              <a:buFont typeface="Arial" panose="020B0604020202020204"/>
              <a:buChar char="•"/>
            </a:pPr>
            <a:r>
              <a:rPr lang="en-US" sz="2400" b="0" strike="noStrike" spc="-1" dirty="0">
                <a:solidFill>
                  <a:srgbClr val="000000"/>
                </a:solidFill>
                <a:latin typeface="Calibri" panose="020F0502020204030204"/>
                <a:ea typeface="MS PGothic" panose="020B0600070205080204" charset="-128"/>
              </a:rPr>
              <a:t>Third level</a:t>
            </a:r>
            <a:endParaRPr lang="en-US" sz="2400" b="0" strike="noStrike" spc="-1" dirty="0">
              <a:solidFill>
                <a:srgbClr val="000000"/>
              </a:solidFill>
              <a:latin typeface="Calibri" panose="020F0502020204030204"/>
            </a:endParaRPr>
          </a:p>
          <a:p>
            <a:pPr marL="1600200" lvl="3" indent="-227965">
              <a:lnSpc>
                <a:spcPct val="100000"/>
              </a:lnSpc>
              <a:spcBef>
                <a:spcPts val="400"/>
              </a:spcBef>
              <a:buClr>
                <a:srgbClr val="000000"/>
              </a:buClr>
              <a:buFont typeface="Arial" panose="020B0604020202020204"/>
              <a:buChar char="–"/>
            </a:pPr>
            <a:r>
              <a:rPr lang="en-US" sz="2000" b="0" strike="noStrike" spc="-1" dirty="0">
                <a:solidFill>
                  <a:srgbClr val="000000"/>
                </a:solidFill>
                <a:latin typeface="Calibri" panose="020F0502020204030204"/>
                <a:ea typeface="MS PGothic" panose="020B0600070205080204" charset="-128"/>
              </a:rPr>
              <a:t>Fourth level</a:t>
            </a:r>
            <a:endParaRPr lang="en-US" sz="2000" b="0" strike="noStrike" spc="-1" dirty="0">
              <a:solidFill>
                <a:srgbClr val="000000"/>
              </a:solidFill>
              <a:latin typeface="Calibri" panose="020F0502020204030204"/>
            </a:endParaRPr>
          </a:p>
          <a:p>
            <a:pPr marL="2057400" lvl="4" indent="-227965">
              <a:lnSpc>
                <a:spcPct val="100000"/>
              </a:lnSpc>
              <a:spcBef>
                <a:spcPts val="400"/>
              </a:spcBef>
              <a:buClr>
                <a:srgbClr val="000000"/>
              </a:buClr>
              <a:buFont typeface="Arial" panose="020B0604020202020204"/>
              <a:buChar char="»"/>
            </a:pPr>
            <a:r>
              <a:rPr lang="en-US" sz="2000" b="0" strike="noStrike" spc="-1" dirty="0">
                <a:solidFill>
                  <a:srgbClr val="000000"/>
                </a:solidFill>
                <a:latin typeface="Calibri" panose="020F0502020204030204"/>
                <a:ea typeface="MS PGothic" panose="020B0600070205080204" charset="-128"/>
              </a:rPr>
              <a:t>Fifth level</a:t>
            </a:r>
            <a:endParaRPr lang="en-US" sz="2000" b="0" strike="noStrike" spc="-1" dirty="0">
              <a:solidFill>
                <a:srgbClr val="000000"/>
              </a:solidFill>
              <a:latin typeface="Calibri" panose="020F0502020204030204"/>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panose="02020603050405020304"/>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panose="02020603050405020304"/>
              </a:rPr>
              <a:t>Name</a:t>
            </a:r>
            <a:endParaRPr lang="en-GB" sz="2400" b="0" strike="noStrike" spc="-1">
              <a:latin typeface="Times New Roman" panose="02020603050405020304"/>
            </a:endParaRP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panose="020F0502020204030204"/>
                <a:ea typeface="MS PGothic" panose="020B0600070205080204" charset="-128"/>
              </a:rPr>
            </a:fld>
            <a:endParaRPr lang="en-GB" sz="1200" b="0" strike="noStrike" spc="-1">
              <a:latin typeface="Times New Roman" panose="02020603050405020304"/>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5377289"/>
          </a:xfrm>
          <a:prstGeom prst="rect">
            <a:avLst/>
          </a:prstGeom>
          <a:noFill/>
          <a:ln w="9360">
            <a:noFill/>
          </a:ln>
        </p:spPr>
        <p:txBody>
          <a:bodyPr>
            <a:noAutofit/>
          </a:bodyPr>
          <a:lstStyle/>
          <a:p>
            <a:pPr algn="ctr">
              <a:lnSpc>
                <a:spcPct val="100000"/>
              </a:lnSpc>
              <a:spcBef>
                <a:spcPts val="400"/>
              </a:spcBef>
            </a:pPr>
            <a:r>
              <a:rPr lang="en-IN" b="1" dirty="0">
                <a:latin typeface="Times New Roman" panose="02020603050405020304" pitchFamily="18" charset="0"/>
                <a:ea typeface="Calibri" panose="020F0502020204030204" pitchFamily="34" charset="0"/>
                <a:cs typeface="Times New Roman" panose="02020603050405020304" pitchFamily="18" charset="0"/>
              </a:rPr>
              <a:t>Project Presentation of </a:t>
            </a:r>
            <a:r>
              <a:rPr lang="en-US" b="1" dirty="0" smtClean="0">
                <a:latin typeface="Times New Roman" panose="02020603050405020304" pitchFamily="18" charset="0"/>
                <a:ea typeface="Calibri" panose="020F0502020204030204" pitchFamily="34" charset="0"/>
                <a:cs typeface="Times New Roman" panose="02020603050405020304" pitchFamily="18" charset="0"/>
              </a:rPr>
              <a:t>CO-OP Project at </a:t>
            </a:r>
            <a:r>
              <a:rPr lang="en-US" b="1" dirty="0">
                <a:latin typeface="Times New Roman" panose="02020603050405020304" pitchFamily="18" charset="0"/>
                <a:ea typeface="Calibri" panose="020F0502020204030204" pitchFamily="34" charset="0"/>
                <a:cs typeface="Times New Roman" panose="02020603050405020304" pitchFamily="18" charset="0"/>
              </a:rPr>
              <a:t>Industry (Module-2) </a:t>
            </a:r>
            <a:r>
              <a:rPr lang="en-IN" b="1" dirty="0" smtClean="0">
                <a:latin typeface="Times New Roman" panose="02020603050405020304" pitchFamily="18" charset="0"/>
                <a:ea typeface="Calibri" panose="020F0502020204030204" pitchFamily="34" charset="0"/>
                <a:cs typeface="Times New Roman" panose="02020603050405020304" pitchFamily="18" charset="0"/>
              </a:rPr>
              <a:t>(22CS421)</a:t>
            </a:r>
            <a:endParaRPr lang="en-IN" b="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endParaRPr lang="en-US" sz="2000" spc="-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r>
              <a:rPr lang="en-US" alt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t>A Data Science Approach for Analyzing Music Industry Trends</a:t>
            </a:r>
            <a:br>
              <a:rPr 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br>
            <a:r>
              <a:rPr lang="en-IN" alt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t>Ansh Puri</a:t>
            </a:r>
            <a:endPar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IN" alt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t>2210990139</a:t>
            </a:r>
            <a:endPar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t>Supervised By</a:t>
            </a:r>
            <a:endParaRPr lang="en-US" sz="2000"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IN" alt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rPr>
              <a:t>Dr.Simarjit Kaur Virk</a:t>
            </a:r>
            <a:endParaRPr lang="en-US" sz="2000" b="0" strike="noStrike" spc="-1" dirty="0">
              <a:solidFill>
                <a:srgbClr val="000000"/>
              </a:solidFill>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panose="020B0600070205080204" charset="-128"/>
                <a:cs typeface="Times New Roman" panose="02020603050405020304" pitchFamily="18" charset="0"/>
              </a:rPr>
              <a:t>Department of </a:t>
            </a:r>
            <a:r>
              <a:rPr lang="en-US" sz="2400" b="0" strike="noStrike" spc="-1" dirty="0">
                <a:latin typeface="Times New Roman" panose="02020603050405020304" pitchFamily="18" charset="0"/>
                <a:ea typeface="MS PGothic" panose="020B0600070205080204" charset="-128"/>
                <a:cs typeface="Times New Roman" panose="02020603050405020304" pitchFamily="18" charset="0"/>
              </a:rPr>
              <a:t>Computer Science and Engineering, </a:t>
            </a:r>
            <a:endParaRPr lang="en-US" sz="2400" b="0" strike="noStrike"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00000"/>
              </a:lnSpc>
              <a:spcBef>
                <a:spcPts val="400"/>
              </a:spcBef>
            </a:pPr>
            <a:r>
              <a:rPr lang="en-US" sz="2400" b="0" strike="noStrike" spc="-1" dirty="0">
                <a:latin typeface="Times New Roman" panose="02020603050405020304" pitchFamily="18" charset="0"/>
                <a:ea typeface="MS PGothic" panose="020B0600070205080204" charset="-128"/>
                <a:cs typeface="Times New Roman" panose="02020603050405020304" pitchFamily="18" charset="0"/>
              </a:rPr>
              <a:t>Chitkara University, Punjab</a:t>
            </a:r>
            <a:endParaRPr lang="en-US" sz="2400" b="0" strike="noStrike" spc="-1" dirty="0">
              <a:latin typeface="Times New Roman" panose="02020603050405020304" pitchFamily="18" charset="0"/>
              <a:ea typeface="MS PGothic" panose="020B0600070205080204" charset="-128"/>
              <a:cs typeface="Times New Roman" panose="02020603050405020304" pitchFamily="18" charset="0"/>
            </a:endParaRPr>
          </a:p>
          <a:p>
            <a:pPr algn="ctr">
              <a:lnSpc>
                <a:spcPct val="150000"/>
              </a:lnSpc>
              <a:spcBef>
                <a:spcPts val="400"/>
              </a:spcBef>
            </a:pPr>
            <a:endParaRPr lang="en-US" sz="2000" b="0" strike="noStrike" spc="-1" dirty="0">
              <a:solidFill>
                <a:srgbClr val="000000"/>
              </a:solidFill>
              <a:latin typeface="Calibri" panose="020F0502020204030204"/>
            </a:endParaRPr>
          </a:p>
          <a:p>
            <a:pPr>
              <a:lnSpc>
                <a:spcPct val="100000"/>
              </a:lnSpc>
              <a:spcBef>
                <a:spcPts val="640"/>
              </a:spcBef>
            </a:pPr>
            <a:endParaRPr lang="en-US" sz="2000" b="0" strike="noStrike" spc="-1" dirty="0">
              <a:solidFill>
                <a:srgbClr val="000000"/>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63830" y="0"/>
            <a:ext cx="6019560" cy="837720"/>
          </a:xfrm>
          <a:prstGeom prst="rect">
            <a:avLst/>
          </a:prstGeom>
          <a:noFill/>
          <a:ln w="9360">
            <a:noFill/>
          </a:ln>
        </p:spPr>
        <p:txBody>
          <a:bodyPr anchor="ctr">
            <a:noAutofit/>
          </a:bodyPr>
          <a:lstStyle/>
          <a:p>
            <a:pPr algn="ctr">
              <a:lnSpc>
                <a:spcPct val="100000"/>
              </a:lnSpc>
            </a:pPr>
            <a:r>
              <a:rPr lang="en-IN" altLang="en-GB" sz="3200" dirty="0">
                <a:latin typeface="Times New Roman" panose="02020603050405020304" pitchFamily="18" charset="0"/>
                <a:cs typeface="Times New Roman" panose="02020603050405020304" pitchFamily="18" charset="0"/>
              </a:rPr>
              <a:t>                           </a:t>
            </a:r>
            <a:r>
              <a:rPr lang="en-GB" sz="32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panose="020F0502020204030204"/>
                <a:ea typeface="MS PGothic" panose="020B0600070205080204" charset="-128"/>
              </a:rPr>
            </a:fld>
            <a:endParaRPr lang="en-GB" sz="1200" b="0" strike="noStrike" spc="-1">
              <a:latin typeface="Times New Roman" panose="02020603050405020304"/>
            </a:endParaRPr>
          </a:p>
        </p:txBody>
      </p:sp>
      <p:sp>
        <p:nvSpPr>
          <p:cNvPr id="5" name="TextShape 2"/>
          <p:cNvSpPr txBox="1"/>
          <p:nvPr/>
        </p:nvSpPr>
        <p:spPr>
          <a:xfrm>
            <a:off x="163830" y="1109980"/>
            <a:ext cx="8838565" cy="5116195"/>
          </a:xfrm>
          <a:prstGeom prst="rect">
            <a:avLst/>
          </a:prstGeom>
          <a:noFill/>
          <a:ln w="9360">
            <a:noFill/>
          </a:ln>
        </p:spPr>
        <p:txBody>
          <a:bodyPr>
            <a:noAutofit/>
          </a:bodyPr>
          <a:lstStyle/>
          <a:p>
            <a:pPr>
              <a:lnSpc>
                <a:spcPct val="150000"/>
              </a:lnSpc>
              <a:spcBef>
                <a:spcPts val="400"/>
              </a:spcBef>
            </a:pPr>
            <a:endParaRPr lang="en-US" sz="1900" b="0" strike="noStrike" spc="-1" dirty="0">
              <a:solidFill>
                <a:srgbClr val="000000"/>
              </a:solidFill>
              <a:latin typeface="Calibri" panose="020F0502020204030204"/>
            </a:endParaRPr>
          </a:p>
          <a:p>
            <a:pPr marL="139700" lvl="0" indent="0">
              <a:buClr>
                <a:srgbClr val="000000"/>
              </a:buClr>
              <a:buSzPts val="1400"/>
              <a:buNone/>
            </a:pPr>
            <a:r>
              <a:rPr lang="en-US" altLang="en-US" sz="1400" dirty="0">
                <a:latin typeface="Times New Roman" panose="02020603050405020304" pitchFamily="18" charset="0"/>
                <a:ea typeface="Calibri" panose="020F0502020204030204" pitchFamily="34" charset="0"/>
                <a:cs typeface="Times New Roman" panose="02020603050405020304" pitchFamily="18" charset="0"/>
              </a:rPr>
              <a:t>In today’s fast-growing world, people have developed higher expectations and more refined tastes in almost every aspect of life, including music. With the rise of the digital era, music has become easily accessible, allowing listeners to enjoy songs anytime and anywhere.It has been made possible through the music streaming platforms such as Spotify,that allows the masses to enjoy music anywhere and anytime.However, the vast variety of music available today makes it challenging to keep track of different songs and understand the connections between various tunes, styles, and beats.To manage this complexity, algorithms and predictive models have become essential tools in the modern music industry. These technologies can analyze large volumes of music data and provide meaningful insights into what makes a song successful, as well as predict the potential success of new releases.This research focuses on understanding the relationship between a song’s audio features and its popularity.</a:t>
            </a:r>
            <a:endParaRPr lang="en-US" altLang="en-US" sz="1400" dirty="0">
              <a:latin typeface="Times New Roman" panose="02020603050405020304" pitchFamily="18" charset="0"/>
              <a:ea typeface="Calibri" panose="020F0502020204030204" pitchFamily="34" charset="0"/>
              <a:cs typeface="Times New Roman" panose="02020603050405020304" pitchFamily="18" charset="0"/>
            </a:endParaRPr>
          </a:p>
          <a:p>
            <a:pPr marL="139700" lvl="0" indent="0">
              <a:buClr>
                <a:srgbClr val="000000"/>
              </a:buClr>
              <a:buSzPts val="1400"/>
              <a:buNone/>
            </a:pPr>
            <a:r>
              <a:rPr lang="en-US" altLang="en-US" sz="1400" dirty="0">
                <a:latin typeface="Times New Roman" panose="02020603050405020304" pitchFamily="18" charset="0"/>
                <a:ea typeface="Calibri" panose="020F0502020204030204" pitchFamily="34" charset="0"/>
                <a:cs typeface="Times New Roman" panose="02020603050405020304" pitchFamily="18" charset="0"/>
              </a:rPr>
              <a:t>The dataset used for this study is taken from Spotify (via Kaggle) and includes attributes such as key, tempo, and other musical characteristics. In this context, a song’s popularity is measured based on its number of streams. By analyzing these audio features alongside popularity, the study aims to identify the key factors that contribute to a song’s success.</a:t>
            </a:r>
            <a:endParaRPr lang="en-US" altLang="en-US" sz="1400" dirty="0">
              <a:latin typeface="Times New Roman" panose="02020603050405020304" pitchFamily="18" charset="0"/>
              <a:ea typeface="Calibri" panose="020F0502020204030204" pitchFamily="34" charset="0"/>
              <a:cs typeface="Times New Roman" panose="02020603050405020304" pitchFamily="18" charset="0"/>
            </a:endParaRPr>
          </a:p>
          <a:p>
            <a:pPr marL="139700" lvl="0" indent="0">
              <a:buClr>
                <a:srgbClr val="000000"/>
              </a:buClr>
              <a:buSzPts val="1400"/>
              <a:buNone/>
            </a:pPr>
            <a:r>
              <a:rPr lang="en-US" altLang="en-US" sz="1400" dirty="0">
                <a:latin typeface="Times New Roman" panose="02020603050405020304" pitchFamily="18" charset="0"/>
                <a:ea typeface="Calibri" panose="020F0502020204030204" pitchFamily="34" charset="0"/>
                <a:cs typeface="Times New Roman" panose="02020603050405020304" pitchFamily="18" charset="0"/>
              </a:rPr>
              <a:t>To achieve this, various machine learning algorithms and statistical techniques will be applied to analyze large datasets related to music. By identifying the most influential features, this research seeks to provide valuable insights into trends within the music industry.</a:t>
            </a:r>
            <a:endParaRPr lang="en-US" altLang="en-US" sz="1400" dirty="0">
              <a:latin typeface="Times New Roman" panose="02020603050405020304" pitchFamily="18" charset="0"/>
              <a:ea typeface="Calibri" panose="020F0502020204030204" pitchFamily="34" charset="0"/>
              <a:cs typeface="Times New Roman" panose="02020603050405020304" pitchFamily="18" charset="0"/>
            </a:endParaRPr>
          </a:p>
          <a:p>
            <a:pPr marL="139700" lvl="0" indent="0">
              <a:buClr>
                <a:srgbClr val="000000"/>
              </a:buClr>
              <a:buSzPts val="1400"/>
              <a:buNone/>
            </a:pPr>
            <a:r>
              <a:rPr lang="en-US" altLang="en-US" sz="1400" dirty="0">
                <a:latin typeface="Times New Roman" panose="02020603050405020304" pitchFamily="18" charset="0"/>
                <a:ea typeface="Calibri" panose="020F0502020204030204" pitchFamily="34" charset="0"/>
                <a:cs typeface="Times New Roman" panose="02020603050405020304" pitchFamily="18" charset="0"/>
              </a:rPr>
              <a:t>It will also explore whether the success of past songs can help predict the performance of future releases and determine which factors have the greatest impact on a song’s popularity.Ultimately, this project aims to enhance our understanding of how the music industry is evolving and how data-driven approaches can shape its future</a:t>
            </a:r>
            <a:endParaRPr lang="en-US" altLang="en-US" sz="1400" dirty="0">
              <a:latin typeface="Times New Roman" panose="02020603050405020304" pitchFamily="18" charset="0"/>
              <a:ea typeface="Calibri" panose="020F0502020204030204" pitchFamily="34" charset="0"/>
              <a:cs typeface="Times New Roman" panose="02020603050405020304" pitchFamily="18" charset="0"/>
            </a:endParaRPr>
          </a:p>
          <a:p>
            <a:pPr>
              <a:lnSpc>
                <a:spcPct val="100000"/>
              </a:lnSpc>
              <a:spcBef>
                <a:spcPts val="400"/>
              </a:spcBef>
            </a:pPr>
            <a:endParaRPr lang="en-US" sz="1400" b="0" strike="noStrike" spc="-1" dirty="0">
              <a:solidFill>
                <a:srgbClr val="000000"/>
              </a:solidFill>
              <a:latin typeface="Times New Roman" panose="02020603050405020304" pitchFamily="18" charset="0"/>
              <a:cs typeface="Times New Roman" panose="02020603050405020304" pitchFamily="18" charset="0"/>
            </a:endParaRPr>
          </a:p>
          <a:p>
            <a:pPr>
              <a:lnSpc>
                <a:spcPct val="100000"/>
              </a:lnSpc>
              <a:spcBef>
                <a:spcPts val="400"/>
              </a:spcBef>
            </a:pPr>
            <a:endParaRPr lang="en-US" sz="1900" spc="-1" dirty="0">
              <a:solidFill>
                <a:srgbClr val="000000"/>
              </a:solidFill>
              <a:latin typeface="Calibri" panose="020F0502020204030204"/>
            </a:endParaRPr>
          </a:p>
          <a:p>
            <a:pPr>
              <a:lnSpc>
                <a:spcPct val="100000"/>
              </a:lnSpc>
              <a:spcBef>
                <a:spcPts val="400"/>
              </a:spcBef>
            </a:pPr>
            <a:endParaRPr lang="en-US" sz="1900" spc="-1" dirty="0">
              <a:solidFill>
                <a:srgbClr val="000000"/>
              </a:solidFill>
              <a:latin typeface="Calibri" panose="020F0502020204030204"/>
            </a:endParaRPr>
          </a:p>
          <a:p>
            <a:pPr>
              <a:lnSpc>
                <a:spcPct val="100000"/>
              </a:lnSpc>
              <a:spcBef>
                <a:spcPts val="400"/>
              </a:spcBef>
            </a:pPr>
            <a:endParaRPr lang="en-US" sz="1900" spc="-1" dirty="0">
              <a:solidFill>
                <a:srgbClr val="000000"/>
              </a:solidFill>
              <a:latin typeface="Calibri" panose="020F0502020204030204"/>
            </a:endParaRPr>
          </a:p>
          <a:p>
            <a:pPr>
              <a:lnSpc>
                <a:spcPct val="150000"/>
              </a:lnSpc>
              <a:spcBef>
                <a:spcPts val="400"/>
              </a:spcBef>
            </a:pPr>
            <a:endParaRPr lang="en-US" sz="1900" b="0" strike="noStrike" spc="-1" dirty="0">
              <a:solidFill>
                <a:srgbClr val="000000"/>
              </a:solidFill>
              <a:latin typeface="Calibri" panose="020F0502020204030204"/>
            </a:endParaRPr>
          </a:p>
          <a:p>
            <a:pPr>
              <a:lnSpc>
                <a:spcPct val="150000"/>
              </a:lnSpc>
              <a:spcBef>
                <a:spcPts val="400"/>
              </a:spcBef>
            </a:pPr>
            <a:endParaRPr lang="en-US" sz="1900" b="0" strike="noStrike" spc="-1" dirty="0">
              <a:solidFill>
                <a:srgbClr val="000000"/>
              </a:solidFill>
              <a:latin typeface="Calibri" panose="020F0502020204030204"/>
            </a:endParaRPr>
          </a:p>
          <a:p>
            <a:pPr>
              <a:lnSpc>
                <a:spcPct val="150000"/>
              </a:lnSpc>
              <a:spcBef>
                <a:spcPts val="400"/>
              </a:spcBef>
            </a:pPr>
            <a:endParaRPr lang="en-US" sz="1900" b="0" strike="noStrike" spc="-1" dirty="0">
              <a:solidFill>
                <a:srgbClr val="000000"/>
              </a:solidFill>
              <a:latin typeface="Calibri" panose="020F0502020204030204"/>
            </a:endParaRPr>
          </a:p>
          <a:p>
            <a:pPr>
              <a:lnSpc>
                <a:spcPct val="150000"/>
              </a:lnSpc>
              <a:spcBef>
                <a:spcPts val="400"/>
              </a:spcBef>
            </a:pPr>
            <a:endParaRPr lang="en-US" sz="1900" b="0" strike="noStrike" spc="-1" dirty="0">
              <a:solidFill>
                <a:srgbClr val="000000"/>
              </a:solidFill>
              <a:latin typeface="Calibri" panose="020F0502020204030204"/>
            </a:endParaRPr>
          </a:p>
          <a:p>
            <a:pPr>
              <a:lnSpc>
                <a:spcPct val="100000"/>
              </a:lnSpc>
              <a:spcBef>
                <a:spcPts val="400"/>
              </a:spcBef>
            </a:pPr>
            <a:endParaRPr lang="en-US" sz="1900" b="0" strike="noStrike" spc="-1" dirty="0">
              <a:solidFill>
                <a:srgbClr val="000000"/>
              </a:solidFill>
              <a:latin typeface="Calibri" panose="020F0502020204030204"/>
            </a:endParaRPr>
          </a:p>
          <a:p>
            <a:pPr>
              <a:lnSpc>
                <a:spcPct val="100000"/>
              </a:lnSpc>
              <a:spcBef>
                <a:spcPts val="400"/>
              </a:spcBef>
            </a:pPr>
            <a:endParaRPr lang="en-US" sz="1900" b="0" strike="noStrike" spc="-1" dirty="0">
              <a:solidFill>
                <a:srgbClr val="000000"/>
              </a:solidFill>
              <a:latin typeface="Calibri" panose="020F0502020204030204"/>
            </a:endParaRPr>
          </a:p>
          <a:p>
            <a:pPr>
              <a:lnSpc>
                <a:spcPct val="100000"/>
              </a:lnSpc>
              <a:spcBef>
                <a:spcPts val="400"/>
              </a:spcBef>
            </a:pPr>
            <a:endParaRPr lang="en-US" sz="1900" b="0" strike="noStrike" spc="-1" dirty="0">
              <a:solidFill>
                <a:srgbClr val="000000"/>
              </a:solidFill>
              <a:latin typeface="Calibri" panose="020F0502020204030204"/>
            </a:endParaRPr>
          </a:p>
          <a:p>
            <a:pPr>
              <a:lnSpc>
                <a:spcPct val="100000"/>
              </a:lnSpc>
              <a:spcBef>
                <a:spcPts val="400"/>
              </a:spcBef>
            </a:pPr>
            <a:endParaRPr lang="en-US" sz="1900" b="0" strike="noStrike" spc="-1" dirty="0">
              <a:solidFill>
                <a:srgbClr val="000000"/>
              </a:solidFill>
              <a:latin typeface="Calibri" panose="020F0502020204030204"/>
            </a:endParaRPr>
          </a:p>
          <a:p>
            <a:pPr>
              <a:lnSpc>
                <a:spcPct val="100000"/>
              </a:lnSpc>
              <a:spcBef>
                <a:spcPts val="400"/>
              </a:spcBef>
            </a:pPr>
            <a:endParaRPr lang="en-US" sz="1900" b="0" strike="noStrike" spc="-1" dirty="0">
              <a:solidFill>
                <a:srgbClr val="000000"/>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10490" y="1111885"/>
            <a:ext cx="8486140" cy="5022215"/>
          </a:xfrm>
          <a:prstGeom prst="rect">
            <a:avLst/>
          </a:prstGeom>
          <a:noFill/>
        </p:spPr>
        <p:txBody>
          <a:bodyPr wrap="square" rtlCol="0">
            <a:noAutofit/>
          </a:bodyPr>
          <a:p>
            <a:pPr algn="l"/>
            <a:r>
              <a:rPr lang="en-US" altLang="en-US">
                <a:latin typeface="Times New Roman" panose="02020603050405020304" pitchFamily="18" charset="0"/>
                <a:cs typeface="Times New Roman" panose="02020603050405020304" pitchFamily="18" charset="0"/>
              </a:rPr>
              <a:t>• Use of a real-world Spotify dataset containing approximately 3000 songs.</a:t>
            </a:r>
            <a:endParaRPr lang="en-US" altLang="en-US">
              <a:latin typeface="Times New Roman" panose="02020603050405020304" pitchFamily="18" charset="0"/>
              <a:cs typeface="Times New Roman" panose="02020603050405020304" pitchFamily="18" charset="0"/>
            </a:endParaRPr>
          </a:p>
          <a:p>
            <a:pPr algn="l"/>
            <a:endParaRPr lang="en-US" altLang="en-US">
              <a:latin typeface="Times New Roman" panose="02020603050405020304" pitchFamily="18" charset="0"/>
              <a:cs typeface="Times New Roman" panose="02020603050405020304" pitchFamily="18" charset="0"/>
            </a:endParaRPr>
          </a:p>
          <a:p>
            <a:pPr algn="l"/>
            <a:r>
              <a:rPr lang="en-US" altLang="en-US">
                <a:latin typeface="Times New Roman" panose="02020603050405020304" pitchFamily="18" charset="0"/>
                <a:cs typeface="Times New Roman" panose="02020603050405020304" pitchFamily="18" charset="0"/>
              </a:rPr>
              <a:t>• Analysis of multiple audio features such as tempo, energy, danceability, and loudness.</a:t>
            </a:r>
            <a:endParaRPr lang="en-US" altLang="en-US">
              <a:latin typeface="Times New Roman" panose="02020603050405020304" pitchFamily="18" charset="0"/>
              <a:cs typeface="Times New Roman" panose="02020603050405020304" pitchFamily="18" charset="0"/>
            </a:endParaRPr>
          </a:p>
          <a:p>
            <a:pPr algn="l"/>
            <a:endParaRPr lang="en-US" altLang="en-US">
              <a:latin typeface="Times New Roman" panose="02020603050405020304" pitchFamily="18" charset="0"/>
              <a:cs typeface="Times New Roman" panose="02020603050405020304" pitchFamily="18" charset="0"/>
            </a:endParaRPr>
          </a:p>
          <a:p>
            <a:pPr algn="l"/>
            <a:r>
              <a:rPr lang="en-US" altLang="en-US">
                <a:latin typeface="Times New Roman" panose="02020603050405020304" pitchFamily="18" charset="0"/>
                <a:cs typeface="Times New Roman" panose="02020603050405020304" pitchFamily="18" charset="0"/>
              </a:rPr>
              <a:t>• Application of different machine learning models including Linear Regression, Decision Tree, Random Forest, and Neural Networks.</a:t>
            </a:r>
            <a:endParaRPr lang="en-US" altLang="en-US">
              <a:latin typeface="Times New Roman" panose="02020603050405020304" pitchFamily="18" charset="0"/>
              <a:cs typeface="Times New Roman" panose="02020603050405020304" pitchFamily="18" charset="0"/>
            </a:endParaRPr>
          </a:p>
          <a:p>
            <a:pPr algn="l"/>
            <a:endParaRPr lang="en-US" altLang="en-US">
              <a:latin typeface="Times New Roman" panose="02020603050405020304" pitchFamily="18" charset="0"/>
              <a:cs typeface="Times New Roman" panose="02020603050405020304" pitchFamily="18" charset="0"/>
            </a:endParaRPr>
          </a:p>
          <a:p>
            <a:pPr algn="l"/>
            <a:r>
              <a:rPr lang="en-US" altLang="en-US">
                <a:latin typeface="Times New Roman" panose="02020603050405020304" pitchFamily="18" charset="0"/>
                <a:cs typeface="Times New Roman" panose="02020603050405020304" pitchFamily="18" charset="0"/>
              </a:rPr>
              <a:t>• Comparison of model performance using evaluation metrics such as Mean Squared Error (MSE) and R-squared (R²).</a:t>
            </a:r>
            <a:endParaRPr lang="en-US" altLang="en-US">
              <a:latin typeface="Times New Roman" panose="02020603050405020304" pitchFamily="18" charset="0"/>
              <a:cs typeface="Times New Roman" panose="02020603050405020304" pitchFamily="18" charset="0"/>
            </a:endParaRPr>
          </a:p>
          <a:p>
            <a:pPr algn="l"/>
            <a:endParaRPr lang="en-US" altLang="en-US">
              <a:latin typeface="Times New Roman" panose="02020603050405020304" pitchFamily="18" charset="0"/>
              <a:cs typeface="Times New Roman" panose="02020603050405020304" pitchFamily="18" charset="0"/>
            </a:endParaRPr>
          </a:p>
          <a:p>
            <a:pPr algn="l"/>
            <a:r>
              <a:rPr lang="en-US" altLang="en-US">
                <a:latin typeface="Times New Roman" panose="02020603050405020304" pitchFamily="18" charset="0"/>
                <a:cs typeface="Times New Roman" panose="02020603050405020304" pitchFamily="18" charset="0"/>
              </a:rPr>
              <a:t>• Identification of important patterns and relationships between audio features and song popularity.</a:t>
            </a:r>
            <a:endParaRPr lang="en-US" altLang="en-US">
              <a:latin typeface="Times New Roman" panose="02020603050405020304" pitchFamily="18" charset="0"/>
              <a:cs typeface="Times New Roman" panose="02020603050405020304" pitchFamily="18" charset="0"/>
            </a:endParaRPr>
          </a:p>
          <a:p>
            <a:pPr algn="l"/>
            <a:endParaRPr lang="en-US" altLang="en-US">
              <a:latin typeface="Times New Roman" panose="02020603050405020304" pitchFamily="18" charset="0"/>
              <a:cs typeface="Times New Roman" panose="02020603050405020304" pitchFamily="18" charset="0"/>
            </a:endParaRPr>
          </a:p>
          <a:p>
            <a:pPr algn="l"/>
            <a:r>
              <a:rPr lang="en-US" altLang="en-US">
                <a:latin typeface="Times New Roman" panose="02020603050405020304" pitchFamily="18" charset="0"/>
                <a:cs typeface="Times New Roman" panose="02020603050405020304" pitchFamily="18" charset="0"/>
              </a:rPr>
              <a:t>• Use of data visualization techniques such as scatter plots and correlation heatmaps.</a:t>
            </a:r>
            <a:endParaRPr lang="en-US" altLang="en-US">
              <a:latin typeface="Times New Roman" panose="02020603050405020304" pitchFamily="18" charset="0"/>
              <a:cs typeface="Times New Roman" panose="02020603050405020304" pitchFamily="18" charset="0"/>
            </a:endParaRPr>
          </a:p>
          <a:p>
            <a:pPr algn="l"/>
            <a:endParaRPr lang="en-US" altLang="en-US">
              <a:latin typeface="Times New Roman" panose="02020603050405020304" pitchFamily="18" charset="0"/>
              <a:cs typeface="Times New Roman" panose="02020603050405020304" pitchFamily="18" charset="0"/>
            </a:endParaRPr>
          </a:p>
          <a:p>
            <a:pPr algn="l"/>
            <a:r>
              <a:rPr lang="en-US" altLang="en-US">
                <a:latin typeface="Times New Roman" panose="02020603050405020304" pitchFamily="18" charset="0"/>
                <a:cs typeface="Times New Roman" panose="02020603050405020304" pitchFamily="18" charset="0"/>
              </a:rPr>
              <a:t>• Evaluation of model effectiveness in predicting song popularity.</a:t>
            </a:r>
            <a:endParaRPr lang="en-US" altLang="en-US">
              <a:latin typeface="Times New Roman" panose="02020603050405020304" pitchFamily="18" charset="0"/>
              <a:cs typeface="Times New Roman" panose="02020603050405020304" pitchFamily="18" charset="0"/>
            </a:endParaRPr>
          </a:p>
          <a:p>
            <a:pPr algn="l"/>
            <a:endParaRPr lang="en-US" altLang="en-US">
              <a:latin typeface="Times New Roman" panose="02020603050405020304" pitchFamily="18" charset="0"/>
              <a:cs typeface="Times New Roman" panose="02020603050405020304" pitchFamily="18" charset="0"/>
            </a:endParaRPr>
          </a:p>
          <a:p>
            <a:pPr algn="l"/>
            <a:r>
              <a:rPr lang="en-US" altLang="en-US">
                <a:latin typeface="Times New Roman" panose="02020603050405020304" pitchFamily="18" charset="0"/>
                <a:cs typeface="Times New Roman" panose="02020603050405020304" pitchFamily="18" charset="0"/>
              </a:rPr>
              <a:t>• Highlighting the limitations of predicting popularity using only audio features.</a:t>
            </a:r>
            <a:endParaRPr lang="en-US" altLang="en-US">
              <a:latin typeface="Times New Roman" panose="02020603050405020304" pitchFamily="18" charset="0"/>
              <a:cs typeface="Times New Roman" panose="02020603050405020304" pitchFamily="18" charset="0"/>
            </a:endParaRPr>
          </a:p>
        </p:txBody>
      </p:sp>
      <p:sp>
        <p:nvSpPr>
          <p:cNvPr id="3" name="Text Box 2"/>
          <p:cNvSpPr txBox="1"/>
          <p:nvPr/>
        </p:nvSpPr>
        <p:spPr>
          <a:xfrm>
            <a:off x="507365" y="220980"/>
            <a:ext cx="6017260" cy="583565"/>
          </a:xfrm>
          <a:prstGeom prst="rect">
            <a:avLst/>
          </a:prstGeom>
          <a:noFill/>
        </p:spPr>
        <p:txBody>
          <a:bodyPr wrap="square" rtlCol="0">
            <a:spAutoFit/>
          </a:bodyPr>
          <a:p>
            <a:pPr algn="ctr"/>
            <a:r>
              <a:rPr lang="en-IN" altLang="en-US" sz="3200">
                <a:latin typeface="Times New Roman" panose="02020603050405020304" pitchFamily="18" charset="0"/>
                <a:cs typeface="Times New Roman" panose="02020603050405020304" pitchFamily="18" charset="0"/>
              </a:rPr>
              <a:t>              Key Features</a:t>
            </a:r>
            <a:endParaRPr lang="en-IN" altLang="en-US" sz="320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95885" y="280035"/>
            <a:ext cx="6505575" cy="444500"/>
          </a:xfrm>
          <a:prstGeom prst="rect">
            <a:avLst/>
          </a:prstGeom>
          <a:noFill/>
        </p:spPr>
        <p:txBody>
          <a:bodyPr wrap="square" rtlCol="0">
            <a:noAutofit/>
          </a:bodyPr>
          <a:p>
            <a:pPr algn="ctr"/>
            <a:r>
              <a:rPr lang="en-IN" altLang="en-US" sz="3200">
                <a:latin typeface="Times New Roman" panose="02020603050405020304" pitchFamily="18" charset="0"/>
                <a:cs typeface="Times New Roman" panose="02020603050405020304" pitchFamily="18" charset="0"/>
              </a:rPr>
              <a:t>            Objectives</a:t>
            </a:r>
            <a:endParaRPr lang="en-IN" altLang="en-US" sz="3200">
              <a:latin typeface="Times New Roman" panose="02020603050405020304" pitchFamily="18" charset="0"/>
              <a:cs typeface="Times New Roman" panose="02020603050405020304" pitchFamily="18" charset="0"/>
            </a:endParaRPr>
          </a:p>
        </p:txBody>
      </p:sp>
      <p:sp>
        <p:nvSpPr>
          <p:cNvPr id="3" name="Text Box 2"/>
          <p:cNvSpPr txBox="1"/>
          <p:nvPr/>
        </p:nvSpPr>
        <p:spPr>
          <a:xfrm>
            <a:off x="235585" y="1076960"/>
            <a:ext cx="8333740" cy="5435600"/>
          </a:xfrm>
          <a:prstGeom prst="rect">
            <a:avLst/>
          </a:prstGeom>
          <a:noFill/>
        </p:spPr>
        <p:txBody>
          <a:bodyPr wrap="square" rtlCol="0">
            <a:noAutofit/>
          </a:bodyPr>
          <a:p>
            <a:r>
              <a:rPr lang="en-US" altLang="en-US" sz="2000">
                <a:latin typeface="Times New Roman" panose="02020603050405020304" pitchFamily="18" charset="0"/>
                <a:cs typeface="Times New Roman" panose="02020603050405020304" pitchFamily="18" charset="0"/>
              </a:rPr>
              <a:t>• To analyze the relationship between audio features and song popularity.</a:t>
            </a:r>
            <a:endParaRPr lang="en-US" altLang="en-US" sz="2000">
              <a:latin typeface="Times New Roman" panose="02020603050405020304" pitchFamily="18" charset="0"/>
              <a:cs typeface="Times New Roman" panose="02020603050405020304" pitchFamily="18" charset="0"/>
            </a:endParaRPr>
          </a:p>
          <a:p>
            <a:endParaRPr lang="en-US" altLang="en-US" sz="2000">
              <a:latin typeface="Times New Roman" panose="02020603050405020304" pitchFamily="18" charset="0"/>
              <a:cs typeface="Times New Roman" panose="02020603050405020304" pitchFamily="18" charset="0"/>
            </a:endParaRPr>
          </a:p>
          <a:p>
            <a:r>
              <a:rPr lang="en-US" altLang="en-US" sz="2000">
                <a:latin typeface="Times New Roman" panose="02020603050405020304" pitchFamily="18" charset="0"/>
                <a:cs typeface="Times New Roman" panose="02020603050405020304" pitchFamily="18" charset="0"/>
              </a:rPr>
              <a:t>• To use a real-world Spotify dataset for data-driven analysis.</a:t>
            </a:r>
            <a:endParaRPr lang="en-US" altLang="en-US" sz="2000">
              <a:latin typeface="Times New Roman" panose="02020603050405020304" pitchFamily="18" charset="0"/>
              <a:cs typeface="Times New Roman" panose="02020603050405020304" pitchFamily="18" charset="0"/>
            </a:endParaRPr>
          </a:p>
          <a:p>
            <a:endParaRPr lang="en-US" altLang="en-US" sz="2000">
              <a:latin typeface="Times New Roman" panose="02020603050405020304" pitchFamily="18" charset="0"/>
              <a:cs typeface="Times New Roman" panose="02020603050405020304" pitchFamily="18" charset="0"/>
            </a:endParaRPr>
          </a:p>
          <a:p>
            <a:r>
              <a:rPr lang="en-US" altLang="en-US" sz="2000">
                <a:latin typeface="Times New Roman" panose="02020603050405020304" pitchFamily="18" charset="0"/>
                <a:cs typeface="Times New Roman" panose="02020603050405020304" pitchFamily="18" charset="0"/>
              </a:rPr>
              <a:t>• To apply machine learning models for predicting song popularity.</a:t>
            </a:r>
            <a:endParaRPr lang="en-US" altLang="en-US" sz="2000">
              <a:latin typeface="Times New Roman" panose="02020603050405020304" pitchFamily="18" charset="0"/>
              <a:cs typeface="Times New Roman" panose="02020603050405020304" pitchFamily="18" charset="0"/>
            </a:endParaRPr>
          </a:p>
          <a:p>
            <a:endParaRPr lang="en-US" altLang="en-US" sz="2000">
              <a:latin typeface="Times New Roman" panose="02020603050405020304" pitchFamily="18" charset="0"/>
              <a:cs typeface="Times New Roman" panose="02020603050405020304" pitchFamily="18" charset="0"/>
            </a:endParaRPr>
          </a:p>
          <a:p>
            <a:r>
              <a:rPr lang="en-US" altLang="en-US" sz="2000">
                <a:latin typeface="Times New Roman" panose="02020603050405020304" pitchFamily="18" charset="0"/>
                <a:cs typeface="Times New Roman" panose="02020603050405020304" pitchFamily="18" charset="0"/>
              </a:rPr>
              <a:t>• To compare the performance of different models such as Linear Regression, Decision Tree, Random Forest, and Neural Networks.</a:t>
            </a:r>
            <a:endParaRPr lang="en-US" altLang="en-US" sz="2000">
              <a:latin typeface="Times New Roman" panose="02020603050405020304" pitchFamily="18" charset="0"/>
              <a:cs typeface="Times New Roman" panose="02020603050405020304" pitchFamily="18" charset="0"/>
            </a:endParaRPr>
          </a:p>
          <a:p>
            <a:endParaRPr lang="en-US" altLang="en-US" sz="2000">
              <a:latin typeface="Times New Roman" panose="02020603050405020304" pitchFamily="18" charset="0"/>
              <a:cs typeface="Times New Roman" panose="02020603050405020304" pitchFamily="18" charset="0"/>
            </a:endParaRPr>
          </a:p>
          <a:p>
            <a:r>
              <a:rPr lang="en-US" altLang="en-US" sz="2000">
                <a:latin typeface="Times New Roman" panose="02020603050405020304" pitchFamily="18" charset="0"/>
                <a:cs typeface="Times New Roman" panose="02020603050405020304" pitchFamily="18" charset="0"/>
              </a:rPr>
              <a:t>• To evaluate model performance using metrics such as Mean Squared Error (MSE) and R-squared (R²).</a:t>
            </a:r>
            <a:endParaRPr lang="en-US" altLang="en-US" sz="2000">
              <a:latin typeface="Times New Roman" panose="02020603050405020304" pitchFamily="18" charset="0"/>
              <a:cs typeface="Times New Roman" panose="02020603050405020304" pitchFamily="18" charset="0"/>
            </a:endParaRPr>
          </a:p>
          <a:p>
            <a:endParaRPr lang="en-US" altLang="en-US" sz="2000">
              <a:latin typeface="Times New Roman" panose="02020603050405020304" pitchFamily="18" charset="0"/>
              <a:cs typeface="Times New Roman" panose="02020603050405020304" pitchFamily="18" charset="0"/>
            </a:endParaRPr>
          </a:p>
          <a:p>
            <a:r>
              <a:rPr lang="en-US" altLang="en-US" sz="2000">
                <a:latin typeface="Times New Roman" panose="02020603050405020304" pitchFamily="18" charset="0"/>
                <a:cs typeface="Times New Roman" panose="02020603050405020304" pitchFamily="18" charset="0"/>
              </a:rPr>
              <a:t>• To identify the most effective model for predicting song popularity.</a:t>
            </a:r>
            <a:endParaRPr lang="en-US" altLang="en-US" sz="2000">
              <a:latin typeface="Times New Roman" panose="02020603050405020304" pitchFamily="18" charset="0"/>
              <a:cs typeface="Times New Roman" panose="02020603050405020304" pitchFamily="18" charset="0"/>
            </a:endParaRPr>
          </a:p>
          <a:p>
            <a:endParaRPr lang="en-US" altLang="en-US" sz="2000">
              <a:latin typeface="Times New Roman" panose="02020603050405020304" pitchFamily="18" charset="0"/>
              <a:cs typeface="Times New Roman" panose="02020603050405020304" pitchFamily="18" charset="0"/>
            </a:endParaRPr>
          </a:p>
          <a:p>
            <a:r>
              <a:rPr lang="en-US" altLang="en-US" sz="2000">
                <a:latin typeface="Times New Roman" panose="02020603050405020304" pitchFamily="18" charset="0"/>
                <a:cs typeface="Times New Roman" panose="02020603050405020304" pitchFamily="18" charset="0"/>
              </a:rPr>
              <a:t>• To understand the limitations of predicting popularity using only audio features</a:t>
            </a:r>
            <a:r>
              <a:rPr lang="en-US" altLang="en-US"/>
              <a:t>.</a:t>
            </a:r>
            <a:endParaRPr lang="en-US"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0" y="88900"/>
            <a:ext cx="6710045" cy="799465"/>
          </a:xfrm>
          <a:prstGeom prst="rect">
            <a:avLst/>
          </a:prstGeom>
          <a:noFill/>
        </p:spPr>
        <p:txBody>
          <a:bodyPr wrap="square" rtlCol="0">
            <a:noAutofit/>
          </a:bodyPr>
          <a:p>
            <a:pPr algn="ctr"/>
            <a:r>
              <a:rPr lang="en-IN" altLang="en-US" sz="3200">
                <a:latin typeface="Times New Roman" panose="02020603050405020304" pitchFamily="18" charset="0"/>
                <a:cs typeface="Times New Roman" panose="02020603050405020304" pitchFamily="18" charset="0"/>
              </a:rPr>
              <a:t>                Tools and technologies</a:t>
            </a:r>
            <a:endParaRPr lang="en-IN" altLang="en-US" sz="3200">
              <a:latin typeface="Times New Roman" panose="02020603050405020304" pitchFamily="18" charset="0"/>
              <a:cs typeface="Times New Roman" panose="02020603050405020304" pitchFamily="18" charset="0"/>
            </a:endParaRPr>
          </a:p>
        </p:txBody>
      </p:sp>
      <p:sp>
        <p:nvSpPr>
          <p:cNvPr id="3" name="Text Box 2"/>
          <p:cNvSpPr txBox="1"/>
          <p:nvPr/>
        </p:nvSpPr>
        <p:spPr>
          <a:xfrm>
            <a:off x="167640" y="1038225"/>
            <a:ext cx="8035925" cy="4983480"/>
          </a:xfrm>
          <a:prstGeom prst="rect">
            <a:avLst/>
          </a:prstGeom>
          <a:noFill/>
        </p:spPr>
        <p:txBody>
          <a:bodyPr wrap="square" rtlCol="0">
            <a:noAutofit/>
          </a:bodyPr>
          <a:p>
            <a:endParaRPr lang="en-US" altLang="en-US"/>
          </a:p>
          <a:p>
            <a:r>
              <a:rPr lang="en-US" altLang="en-US">
                <a:latin typeface="Times New Roman" panose="02020603050405020304" pitchFamily="18" charset="0"/>
                <a:cs typeface="Times New Roman" panose="02020603050405020304" pitchFamily="18" charset="0"/>
                <a:sym typeface="+mn-ea"/>
              </a:rPr>
              <a:t>•</a:t>
            </a:r>
            <a:r>
              <a:rPr lang="en-US" altLang="en-US">
                <a:latin typeface="Times New Roman" panose="02020603050405020304" pitchFamily="18" charset="0"/>
                <a:cs typeface="Times New Roman" panose="02020603050405020304" pitchFamily="18" charset="0"/>
              </a:rPr>
              <a:t> Python: Used as the primary programming language for data analysis and model implementation.</a:t>
            </a:r>
            <a:endParaRPr lang="en-US" altLang="en-US">
              <a:latin typeface="Times New Roman" panose="02020603050405020304" pitchFamily="18" charset="0"/>
              <a:cs typeface="Times New Roman" panose="02020603050405020304" pitchFamily="18" charset="0"/>
            </a:endParaRPr>
          </a:p>
          <a:p>
            <a:endParaRPr lang="en-US" altLang="en-US">
              <a:latin typeface="Times New Roman" panose="02020603050405020304" pitchFamily="18" charset="0"/>
              <a:cs typeface="Times New Roman" panose="02020603050405020304" pitchFamily="18" charset="0"/>
            </a:endParaRPr>
          </a:p>
          <a:p>
            <a:r>
              <a:rPr lang="en-US" altLang="en-US">
                <a:latin typeface="Times New Roman" panose="02020603050405020304" pitchFamily="18" charset="0"/>
                <a:cs typeface="Times New Roman" panose="02020603050405020304" pitchFamily="18" charset="0"/>
                <a:sym typeface="+mn-ea"/>
              </a:rPr>
              <a:t>•</a:t>
            </a:r>
            <a:r>
              <a:rPr lang="en-US" altLang="en-US">
                <a:latin typeface="Times New Roman" panose="02020603050405020304" pitchFamily="18" charset="0"/>
                <a:cs typeface="Times New Roman" panose="02020603050405020304" pitchFamily="18" charset="0"/>
              </a:rPr>
              <a:t> NumPy: Used for numerical computations and handling array-based data efficiently.</a:t>
            </a:r>
            <a:endParaRPr lang="en-US" altLang="en-US">
              <a:latin typeface="Times New Roman" panose="02020603050405020304" pitchFamily="18" charset="0"/>
              <a:cs typeface="Times New Roman" panose="02020603050405020304" pitchFamily="18" charset="0"/>
            </a:endParaRPr>
          </a:p>
          <a:p>
            <a:endParaRPr lang="en-US" altLang="en-US">
              <a:latin typeface="Times New Roman" panose="02020603050405020304" pitchFamily="18" charset="0"/>
              <a:cs typeface="Times New Roman" panose="02020603050405020304" pitchFamily="18" charset="0"/>
            </a:endParaRPr>
          </a:p>
          <a:p>
            <a:r>
              <a:rPr lang="en-US" altLang="en-US">
                <a:latin typeface="Times New Roman" panose="02020603050405020304" pitchFamily="18" charset="0"/>
                <a:cs typeface="Times New Roman" panose="02020603050405020304" pitchFamily="18" charset="0"/>
                <a:sym typeface="+mn-ea"/>
              </a:rPr>
              <a:t>•</a:t>
            </a:r>
            <a:r>
              <a:rPr lang="en-US" altLang="en-US">
                <a:latin typeface="Times New Roman" panose="02020603050405020304" pitchFamily="18" charset="0"/>
                <a:cs typeface="Times New Roman" panose="02020603050405020304" pitchFamily="18" charset="0"/>
              </a:rPr>
              <a:t> Pandas: Used for data manipulation, cleaning, and preprocessing of the dataset.</a:t>
            </a:r>
            <a:endParaRPr lang="en-US" altLang="en-US">
              <a:latin typeface="Times New Roman" panose="02020603050405020304" pitchFamily="18" charset="0"/>
              <a:cs typeface="Times New Roman" panose="02020603050405020304" pitchFamily="18" charset="0"/>
            </a:endParaRPr>
          </a:p>
          <a:p>
            <a:endParaRPr lang="en-US" altLang="en-US">
              <a:latin typeface="Times New Roman" panose="02020603050405020304" pitchFamily="18" charset="0"/>
              <a:cs typeface="Times New Roman" panose="02020603050405020304" pitchFamily="18" charset="0"/>
            </a:endParaRPr>
          </a:p>
          <a:p>
            <a:r>
              <a:rPr lang="en-US" altLang="en-US">
                <a:latin typeface="Times New Roman" panose="02020603050405020304" pitchFamily="18" charset="0"/>
                <a:cs typeface="Times New Roman" panose="02020603050405020304" pitchFamily="18" charset="0"/>
                <a:sym typeface="+mn-ea"/>
              </a:rPr>
              <a:t>•</a:t>
            </a:r>
            <a:r>
              <a:rPr lang="en-US" altLang="en-US">
                <a:latin typeface="Times New Roman" panose="02020603050405020304" pitchFamily="18" charset="0"/>
                <a:cs typeface="Times New Roman" panose="02020603050405020304" pitchFamily="18" charset="0"/>
              </a:rPr>
              <a:t> Matplotlib and Seaborn: Used for data visualization, including graphs and correlation analysis.</a:t>
            </a:r>
            <a:endParaRPr lang="en-US" altLang="en-US">
              <a:latin typeface="Times New Roman" panose="02020603050405020304" pitchFamily="18" charset="0"/>
              <a:cs typeface="Times New Roman" panose="02020603050405020304" pitchFamily="18" charset="0"/>
            </a:endParaRPr>
          </a:p>
          <a:p>
            <a:endParaRPr lang="en-US" altLang="en-US">
              <a:latin typeface="Times New Roman" panose="02020603050405020304" pitchFamily="18" charset="0"/>
              <a:cs typeface="Times New Roman" panose="02020603050405020304" pitchFamily="18" charset="0"/>
            </a:endParaRPr>
          </a:p>
          <a:p>
            <a:r>
              <a:rPr lang="en-US" altLang="en-US">
                <a:latin typeface="Times New Roman" panose="02020603050405020304" pitchFamily="18" charset="0"/>
                <a:cs typeface="Times New Roman" panose="02020603050405020304" pitchFamily="18" charset="0"/>
                <a:sym typeface="+mn-ea"/>
              </a:rPr>
              <a:t>•</a:t>
            </a:r>
            <a:r>
              <a:rPr lang="en-US" altLang="en-US">
                <a:latin typeface="Times New Roman" panose="02020603050405020304" pitchFamily="18" charset="0"/>
                <a:cs typeface="Times New Roman" panose="02020603050405020304" pitchFamily="18" charset="0"/>
              </a:rPr>
              <a:t> Scikit-learn: Used for implementing machine learning models such as Linear Regression, Decision Tree, and Random Forest.</a:t>
            </a:r>
            <a:endParaRPr lang="en-US" altLang="en-US">
              <a:latin typeface="Times New Roman" panose="02020603050405020304" pitchFamily="18" charset="0"/>
              <a:cs typeface="Times New Roman" panose="02020603050405020304" pitchFamily="18" charset="0"/>
            </a:endParaRPr>
          </a:p>
          <a:p>
            <a:endParaRPr lang="en-US" altLang="en-US">
              <a:latin typeface="Times New Roman" panose="02020603050405020304" pitchFamily="18" charset="0"/>
              <a:cs typeface="Times New Roman" panose="02020603050405020304" pitchFamily="18" charset="0"/>
            </a:endParaRPr>
          </a:p>
          <a:p>
            <a:r>
              <a:rPr lang="en-US" altLang="en-US">
                <a:latin typeface="Times New Roman" panose="02020603050405020304" pitchFamily="18" charset="0"/>
                <a:cs typeface="Times New Roman" panose="02020603050405020304" pitchFamily="18" charset="0"/>
                <a:sym typeface="+mn-ea"/>
              </a:rPr>
              <a:t>•</a:t>
            </a:r>
            <a:r>
              <a:rPr lang="en-US" altLang="en-US">
                <a:latin typeface="Times New Roman" panose="02020603050405020304" pitchFamily="18" charset="0"/>
                <a:cs typeface="Times New Roman" panose="02020603050405020304" pitchFamily="18" charset="0"/>
              </a:rPr>
              <a:t>TensorFlow/Keras: Used for building and training the Neural Network model.</a:t>
            </a:r>
            <a:endParaRPr lang="en-US" altLang="en-US">
              <a:latin typeface="Times New Roman" panose="02020603050405020304" pitchFamily="18" charset="0"/>
              <a:cs typeface="Times New Roman" panose="02020603050405020304" pitchFamily="18" charset="0"/>
            </a:endParaRPr>
          </a:p>
          <a:p>
            <a:endParaRPr lang="en-US" altLang="en-US">
              <a:latin typeface="Times New Roman" panose="02020603050405020304" pitchFamily="18" charset="0"/>
              <a:cs typeface="Times New Roman" panose="02020603050405020304" pitchFamily="18" charset="0"/>
            </a:endParaRPr>
          </a:p>
          <a:p>
            <a:r>
              <a:rPr lang="en-US" altLang="en-US">
                <a:latin typeface="Times New Roman" panose="02020603050405020304" pitchFamily="18" charset="0"/>
                <a:cs typeface="Times New Roman" panose="02020603050405020304" pitchFamily="18" charset="0"/>
                <a:sym typeface="+mn-ea"/>
              </a:rPr>
              <a:t>•</a:t>
            </a:r>
            <a:r>
              <a:rPr lang="en-US" altLang="en-US">
                <a:latin typeface="Times New Roman" panose="02020603050405020304" pitchFamily="18" charset="0"/>
                <a:cs typeface="Times New Roman" panose="02020603050405020304" pitchFamily="18" charset="0"/>
              </a:rPr>
              <a:t>Kaggle: Used as the source of the Spotify dataset for analysis.</a:t>
            </a:r>
            <a:endParaRPr lang="en-US" alt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GB"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panose="020F0502020204030204"/>
                <a:ea typeface="MS PGothic" panose="020B0600070205080204" charset="-128"/>
              </a:rPr>
            </a:fld>
            <a:endParaRPr lang="en-GB" sz="1200" b="0" strike="noStrike" spc="-1">
              <a:latin typeface="Times New Roman" panose="020206030504050203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A62A602-78C1-468C-BB25-57CD481DB741}">
  <ds:schemaRefs/>
</ds:datastoreItem>
</file>

<file path=customXml/itemProps2.xml><?xml version="1.0" encoding="utf-8"?>
<ds:datastoreItem xmlns:ds="http://schemas.openxmlformats.org/officeDocument/2006/customXml" ds:itemID="{737ED6F0-5E4C-4CD0-9B68-9C53F925A6F7}">
  <ds:schemaRefs/>
</ds:datastoreItem>
</file>

<file path=customXml/itemProps3.xml><?xml version="1.0" encoding="utf-8"?>
<ds:datastoreItem xmlns:ds="http://schemas.openxmlformats.org/officeDocument/2006/customXml" ds:itemID="{491DF113-39A2-46D5-BFDA-E63300A9ECAB}">
  <ds:schemaRefs/>
</ds:datastoreItem>
</file>

<file path=docProps/app.xml><?xml version="1.0" encoding="utf-8"?>
<Properties xmlns="http://schemas.openxmlformats.org/officeDocument/2006/extended-properties" xmlns:vt="http://schemas.openxmlformats.org/officeDocument/2006/docPropsVTypes">
  <TotalTime>0</TotalTime>
  <Words>4291</Words>
  <Application>WPS Presentation</Application>
  <PresentationFormat>On-screen Show (4:3)</PresentationFormat>
  <Paragraphs>91</Paragraphs>
  <Slides>6</Slides>
  <Notes>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6</vt:i4>
      </vt:variant>
    </vt:vector>
  </HeadingPairs>
  <TitlesOfParts>
    <vt:vector size="19" baseType="lpstr">
      <vt:lpstr>Arial</vt:lpstr>
      <vt:lpstr>SimSun</vt:lpstr>
      <vt:lpstr>Wingdings</vt:lpstr>
      <vt:lpstr>Calibri</vt:lpstr>
      <vt:lpstr>MS PGothic</vt:lpstr>
      <vt:lpstr>Arial</vt:lpstr>
      <vt:lpstr>Times New Roman</vt:lpstr>
      <vt:lpstr>Times New Roman</vt:lpstr>
      <vt:lpstr>Calibri</vt:lpstr>
      <vt:lpstr>Microsoft YaHei</vt:lpstr>
      <vt:lpstr>Arial Unicode MS</vt:lpstr>
      <vt:lpstr>DejaVu Sans</vt:lpstr>
      <vt:lpstr>Office Theme</vt:lpstr>
      <vt:lpstr>PowerPoint 演示文稿</vt:lpstr>
      <vt:lpstr>PowerPoint 演示文稿</vt:lpstr>
      <vt:lpstr>PowerPoint 演示文稿</vt:lpstr>
      <vt:lpstr>PowerPoint 演示文稿</vt:lpstr>
      <vt:lpstr>PowerPoint 演示文稿</vt:lpstr>
      <vt:lpstr>PowerPoint 演示文稿</vt:lpstr>
    </vt:vector>
  </TitlesOfParts>
  <Company>CCC</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Ansh Puri</cp:lastModifiedBy>
  <cp:revision>2301</cp:revision>
  <dcterms:created xsi:type="dcterms:W3CDTF">2010-04-09T07:36:00Z</dcterms:created>
  <dcterms:modified xsi:type="dcterms:W3CDTF">2026-04-30T10:10:20Z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y fmtid="{D5CDD505-2E9C-101B-9397-08002B2CF9AE}" pid="14" name="KSOProductBuildVer">
    <vt:lpwstr>1033-12.1.0.25242</vt:lpwstr>
  </property>
  <property fmtid="{D5CDD505-2E9C-101B-9397-08002B2CF9AE}" pid="15" name="ICV">
    <vt:lpwstr>052440D8C91B468C95DDFDF9D68FE583_12</vt:lpwstr>
  </property>
</Properties>
</file>